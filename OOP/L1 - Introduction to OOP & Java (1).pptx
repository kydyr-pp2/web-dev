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94" r:id="rId8"/>
    <p:sldId id="263" r:id="rId9"/>
    <p:sldId id="264" r:id="rId10"/>
    <p:sldId id="265" r:id="rId11"/>
    <p:sldId id="292" r:id="rId12"/>
    <p:sldId id="266" r:id="rId13"/>
    <p:sldId id="267" r:id="rId14"/>
    <p:sldId id="268" r:id="rId15"/>
    <p:sldId id="290" r:id="rId16"/>
    <p:sldId id="269" r:id="rId17"/>
    <p:sldId id="270" r:id="rId18"/>
    <p:sldId id="271" r:id="rId19"/>
    <p:sldId id="272" r:id="rId20"/>
    <p:sldId id="273" r:id="rId21"/>
    <p:sldId id="288" r:id="rId22"/>
    <p:sldId id="274" r:id="rId23"/>
    <p:sldId id="275" r:id="rId24"/>
    <p:sldId id="276" r:id="rId25"/>
    <p:sldId id="277" r:id="rId26"/>
    <p:sldId id="278" r:id="rId27"/>
    <p:sldId id="286" r:id="rId28"/>
    <p:sldId id="279" r:id="rId29"/>
    <p:sldId id="280" r:id="rId30"/>
    <p:sldId id="281" r:id="rId31"/>
    <p:sldId id="295" r:id="rId32"/>
    <p:sldId id="282" r:id="rId33"/>
    <p:sldId id="283" r:id="rId34"/>
    <p:sldId id="284" r:id="rId35"/>
    <p:sldId id="296" r:id="rId36"/>
    <p:sldId id="297" r:id="rId37"/>
    <p:sldId id="262" r:id="rId38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D25"/>
    <a:srgbClr val="2A3766"/>
    <a:srgbClr val="7B6B3D"/>
    <a:srgbClr val="B5D2EC"/>
    <a:srgbClr val="8FAADC"/>
    <a:srgbClr val="FFFFFF"/>
    <a:srgbClr val="FA1009"/>
    <a:srgbClr val="92929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712"/>
  </p:normalViewPr>
  <p:slideViewPr>
    <p:cSldViewPr snapToGrid="0">
      <p:cViewPr>
        <p:scale>
          <a:sx n="105" d="100"/>
          <a:sy n="105" d="100"/>
        </p:scale>
        <p:origin x="6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01C8-9EFA-3564-909F-80C49389C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7C044-2207-BF2B-B374-25E7692BD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3B3F7-80F4-1BA0-2AF9-43B1CBC5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B3A0-1FED-64E3-C6DB-F43B247F7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35B0C-0D51-4DF0-4412-4D2D4D44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43063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048C-DDE2-77A8-2ED8-02F8D978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5385-94C7-A5AD-26D4-D8FA45FD0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E215E-13C0-2FDA-0238-681433033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C598F-CBFB-4AF2-40FC-6768818E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810B8-114E-F2ED-E8ED-BD8FA826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56206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BE8F-B216-08A6-CAA0-242F5BBE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9AB3B-681C-2CCE-CE41-E1CC62FB3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66E38-8F4C-F2CC-0251-18E1D0AD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4708D-0AE0-0607-23C6-F2CDBE90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113CE-A398-D1D2-9D76-879A3098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73718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1AB1-81B2-26B8-0A56-C3374EB5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9A088-822B-1B91-12BA-18BA17CE15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95E76-753A-C460-805D-D5EC4C5D7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9FDE2-D243-DA8C-B84C-6F3AD56DE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CDBAC-0CCB-5620-EEF6-F4BF2F0E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F1522-AE39-5862-CDFC-60BE910A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69212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37158-DA60-9F3F-CABA-C42866744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DDAD7-82A3-F895-5E4B-6EC302D5D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EEF03-D9FD-1611-C784-C36CBC56D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0CB8A-0C88-5565-4685-269954D61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C9ADD-7833-30C7-57A4-399867F1D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5537E4-07AC-C96F-AC59-0B964E4E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13438-41B9-EC5C-C57F-AC8A43071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4AB22-BC43-0193-7F27-D63A9396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091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89AD-9D44-B9C1-6526-F29CFA12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E788E-CA73-6EEA-8066-94341A7A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5FAC0-6927-6C0E-651E-23473BF2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FDCFF-9CFC-DA24-30F5-516D4F86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235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8C224-BEA1-93D0-9082-7FAEBF56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0C3454-A0AC-8DBF-B070-0570D974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F5CA0-CD79-6313-1EEC-DAABF9B22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62779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387E3-F57F-3DA7-CD14-17281C3F5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E1573-854B-CD45-CFC2-CA52E51AD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4A4DD-FB40-70A1-AFEE-7A8B2C8F3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F423E-33E1-BFD8-7E90-F459D44F5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83FB5-E348-9473-ECC0-4FEA42B9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0EFF1-7B6A-A263-B1A7-9052EC31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249345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F801-D7B8-F9B1-A392-8FC1D33E4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72DA2-7D05-ED3B-4F1A-8D0F0A908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7B5D3-C9AA-E26A-2534-6AEF791E7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27F3A-619C-B5F4-B539-60C327AD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A3BFF-0EBE-56C8-DA25-A5A9863C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75A8D-807F-4599-56D2-9C016327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01811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C186-04EA-179F-0A1F-1F9FF66A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877DB-DD19-FB92-E79B-4ACDDEA04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1818B-723F-AD7F-AA8B-8C8F7D13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E962E-17D7-170D-3DA2-76D47753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37B72-3C0B-FEA8-8448-1084926F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855629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8E0B53-B3F7-4038-D9E5-19498C963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723A3-E62A-2EF9-2892-007882984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B1AF1-6CFF-C49F-D130-798BDEC3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8F7C3-79E8-BF34-BAE7-AE488264E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C9EC6-EA0A-8E94-E4C8-CE778B5F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96466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37E9E-0E83-C7A0-5AF6-404FA325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F6553-8279-88CC-FED1-1BC99B6BD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AE18A-53D6-CF31-F56E-D3315B18E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27601-F9E6-B64C-A878-7C8B53DC741B}" type="datetimeFigureOut">
              <a:rPr lang="en-KZ" smtClean="0"/>
              <a:t>19.01.2026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80209-3FEC-AA34-D870-1E9E30B83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0A2F3-B7CB-11B9-2632-790CF631E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2FD58-2EED-0040-A216-8C9C491F057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53531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caler.com/topics/cpp/procedural-programmin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uythinbmt.medium.com/spaghetti-code-what-is-it-and-how-we-avoid-it-34acf97e76b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ckarabia.com/en/recipes/easy-beef-lasagna-with-bechamel-sauc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liasoftware.com/blog/what-is-object-oriented-programming-oop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caler.com/topics/cpp/procedural-programmin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caler.com/topics/cpp/procedural-programming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4414CE-7CFA-F906-9722-E0944938A0D4}"/>
              </a:ext>
            </a:extLst>
          </p:cNvPr>
          <p:cNvSpPr/>
          <p:nvPr/>
        </p:nvSpPr>
        <p:spPr>
          <a:xfrm>
            <a:off x="0" y="2680138"/>
            <a:ext cx="12192000" cy="1497724"/>
          </a:xfrm>
          <a:prstGeom prst="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B4F24-983A-3D97-7E37-B3CB373ABD17}"/>
              </a:ext>
            </a:extLst>
          </p:cNvPr>
          <p:cNvSpPr txBox="1"/>
          <p:nvPr/>
        </p:nvSpPr>
        <p:spPr>
          <a:xfrm>
            <a:off x="701566" y="3136612"/>
            <a:ext cx="1078886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LECTURE 1: INTRODUCTION TO OOP &amp; JAVA</a:t>
            </a:r>
            <a:endParaRPr lang="en-KZ" sz="3200" dirty="0">
              <a:gradFill flip="none" rotWithShape="1">
                <a:gsLst>
                  <a:gs pos="0">
                    <a:schemeClr val="bg1"/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DEEB8-D3BA-11AD-E3A2-12C2A2652B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4556132" y="626610"/>
            <a:ext cx="3079736" cy="1191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CB2C53-BB78-CE4A-D0E3-4708828C5C9E}"/>
              </a:ext>
            </a:extLst>
          </p:cNvPr>
          <p:cNvSpPr txBox="1"/>
          <p:nvPr/>
        </p:nvSpPr>
        <p:spPr>
          <a:xfrm>
            <a:off x="701566" y="5040140"/>
            <a:ext cx="8229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b="1" dirty="0">
                <a:latin typeface="Inter Light" panose="02000503000000020004" pitchFamily="2" charset="0"/>
                <a:ea typeface="Inter Light" panose="02000503000000020004" pitchFamily="2" charset="0"/>
              </a:rPr>
              <a:t>Prepared by: </a:t>
            </a:r>
            <a:r>
              <a:rPr lang="en-KZ" dirty="0">
                <a:latin typeface="Inter Light" panose="02000503000000020004" pitchFamily="2" charset="0"/>
                <a:ea typeface="Inter Light" panose="02000503000000020004" pitchFamily="2" charset="0"/>
              </a:rPr>
              <a:t>Izbassar Assylzhan</a:t>
            </a:r>
            <a:endParaRPr lang="en-KZ" b="1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CA2005-C253-B14C-FF88-7036E4CD3EEF}"/>
              </a:ext>
            </a:extLst>
          </p:cNvPr>
          <p:cNvSpPr txBox="1"/>
          <p:nvPr/>
        </p:nvSpPr>
        <p:spPr>
          <a:xfrm>
            <a:off x="701566" y="5450044"/>
            <a:ext cx="8229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b="1" dirty="0">
                <a:latin typeface="Inter Light" panose="02000503000000020004" pitchFamily="2" charset="0"/>
                <a:ea typeface="Inter Light" panose="02000503000000020004" pitchFamily="2" charset="0"/>
              </a:rPr>
              <a:t>Course: </a:t>
            </a:r>
            <a:r>
              <a:rPr lang="en-KZ" dirty="0">
                <a:latin typeface="Inter Light" panose="02000503000000020004" pitchFamily="2" charset="0"/>
                <a:ea typeface="Inter Light" panose="02000503000000020004" pitchFamily="2" charset="0"/>
              </a:rPr>
              <a:t>Object-Oriented Programming &amp; Design – Spring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143F4-1FC2-187B-BC5F-C43A42DD6528}"/>
              </a:ext>
            </a:extLst>
          </p:cNvPr>
          <p:cNvSpPr txBox="1"/>
          <p:nvPr/>
        </p:nvSpPr>
        <p:spPr>
          <a:xfrm>
            <a:off x="701566" y="5854332"/>
            <a:ext cx="8229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b="1" dirty="0">
                <a:latin typeface="Inter Light" panose="02000503000000020004" pitchFamily="2" charset="0"/>
                <a:ea typeface="Inter Light" panose="02000503000000020004" pitchFamily="2" charset="0"/>
              </a:rPr>
              <a:t>Referenced from: </a:t>
            </a:r>
            <a:r>
              <a:rPr lang="en-KZ" dirty="0">
                <a:latin typeface="Inter Light" panose="02000503000000020004" pitchFamily="2" charset="0"/>
                <a:ea typeface="Inter Light" panose="02000503000000020004" pitchFamily="2" charset="0"/>
              </a:rPr>
              <a:t>Shamoi Pakizar</a:t>
            </a:r>
            <a:endParaRPr lang="en-KZ" b="1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182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CC3B-1837-C533-4B08-6F16FCE80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KZ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2F6A6-94CC-63B8-0799-D889CE3FA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217" y="3260053"/>
            <a:ext cx="3748088" cy="561268"/>
          </a:xfrm>
        </p:spPr>
        <p:txBody>
          <a:bodyPr>
            <a:normAutofit/>
          </a:bodyPr>
          <a:lstStyle/>
          <a:p>
            <a:r>
              <a:rPr lang="en-KZ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TOPICS WE’LL COVER: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AE9C02-0FF3-9123-6377-4749F5C0EDB8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816BD7-9F06-B146-0917-F71CE8D06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1062" y="1752428"/>
            <a:ext cx="2176463" cy="8418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A38EEC-D3C0-A978-7802-A5CD02800032}"/>
              </a:ext>
            </a:extLst>
          </p:cNvPr>
          <p:cNvSpPr txBox="1"/>
          <p:nvPr/>
        </p:nvSpPr>
        <p:spPr>
          <a:xfrm>
            <a:off x="3243261" y="1573194"/>
            <a:ext cx="8229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In this lecture, we will introduce the </a:t>
            </a:r>
            <a:r>
              <a:rPr lang="en-US" b="1" dirty="0">
                <a:latin typeface="Inter Light" panose="02000503000000020004" pitchFamily="2" charset="0"/>
                <a:ea typeface="Inter Light" panose="02000503000000020004" pitchFamily="2" charset="0"/>
              </a:rPr>
              <a:t>Object-Oriented Programming (OOP)</a:t>
            </a: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 paradigm and explore Java as an object-oriented programming language. We will discuss why OOP is used, why Java remains a popular choice, and how Java programs are compiled and executed using the Java platform.</a:t>
            </a:r>
            <a:endParaRPr lang="en-KZ" b="1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39A782-ACD3-6B47-F9D3-96DDDB113DFA}"/>
              </a:ext>
            </a:extLst>
          </p:cNvPr>
          <p:cNvSpPr txBox="1">
            <a:spLocks/>
          </p:cNvSpPr>
          <p:nvPr/>
        </p:nvSpPr>
        <p:spPr>
          <a:xfrm>
            <a:off x="6591300" y="3237003"/>
            <a:ext cx="4702969" cy="5612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KZ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GOALS FOR THIS LECTURE: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E072A5-C070-2488-2BB0-3FF90377414B}"/>
              </a:ext>
            </a:extLst>
          </p:cNvPr>
          <p:cNvCxnSpPr>
            <a:cxnSpLocks/>
          </p:cNvCxnSpPr>
          <p:nvPr/>
        </p:nvCxnSpPr>
        <p:spPr>
          <a:xfrm>
            <a:off x="6427076" y="3237003"/>
            <a:ext cx="0" cy="277177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2E1F352D-386E-C2DB-5896-418087C8AD76}"/>
              </a:ext>
            </a:extLst>
          </p:cNvPr>
          <p:cNvSpPr/>
          <p:nvPr/>
        </p:nvSpPr>
        <p:spPr>
          <a:xfrm>
            <a:off x="697724" y="3835578"/>
            <a:ext cx="2592016" cy="699918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279F0B-DCB2-90FF-0AA6-159822201181}"/>
              </a:ext>
            </a:extLst>
          </p:cNvPr>
          <p:cNvSpPr txBox="1"/>
          <p:nvPr/>
        </p:nvSpPr>
        <p:spPr>
          <a:xfrm>
            <a:off x="697724" y="4006006"/>
            <a:ext cx="25920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FAD7D9D6-893C-55C9-C564-B2C71FBE506F}"/>
              </a:ext>
            </a:extLst>
          </p:cNvPr>
          <p:cNvSpPr/>
          <p:nvPr/>
        </p:nvSpPr>
        <p:spPr>
          <a:xfrm>
            <a:off x="3503986" y="3819812"/>
            <a:ext cx="2592016" cy="699918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155A4B-E900-A27A-064A-B78B100CA835}"/>
              </a:ext>
            </a:extLst>
          </p:cNvPr>
          <p:cNvSpPr txBox="1"/>
          <p:nvPr/>
        </p:nvSpPr>
        <p:spPr>
          <a:xfrm>
            <a:off x="3503986" y="3990240"/>
            <a:ext cx="25920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</a:p>
        </p:txBody>
      </p:sp>
      <p:sp>
        <p:nvSpPr>
          <p:cNvPr id="21" name="Round Diagonal Corner Rectangle 20">
            <a:extLst>
              <a:ext uri="{FF2B5EF4-FFF2-40B4-BE49-F238E27FC236}">
                <a16:creationId xmlns:a16="http://schemas.microsoft.com/office/drawing/2014/main" id="{D59ABEDD-5A85-70D3-FB70-6832AA9FD510}"/>
              </a:ext>
            </a:extLst>
          </p:cNvPr>
          <p:cNvSpPr/>
          <p:nvPr/>
        </p:nvSpPr>
        <p:spPr>
          <a:xfrm>
            <a:off x="697724" y="4718446"/>
            <a:ext cx="2592016" cy="699918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44A830-7684-D0D4-6C44-E7FB525B2C62}"/>
              </a:ext>
            </a:extLst>
          </p:cNvPr>
          <p:cNvSpPr txBox="1"/>
          <p:nvPr/>
        </p:nvSpPr>
        <p:spPr>
          <a:xfrm>
            <a:off x="697721" y="4899128"/>
            <a:ext cx="259201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B9FE419B-B7D0-F656-E483-652EDE3FD68C}"/>
              </a:ext>
            </a:extLst>
          </p:cNvPr>
          <p:cNvSpPr/>
          <p:nvPr/>
        </p:nvSpPr>
        <p:spPr>
          <a:xfrm>
            <a:off x="3503986" y="4702680"/>
            <a:ext cx="2592016" cy="699918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8519D7-83B7-5DA4-6C19-8C9EFD12F6D5}"/>
              </a:ext>
            </a:extLst>
          </p:cNvPr>
          <p:cNvSpPr txBox="1"/>
          <p:nvPr/>
        </p:nvSpPr>
        <p:spPr>
          <a:xfrm>
            <a:off x="3503986" y="4873108"/>
            <a:ext cx="25920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0584BB-2433-1CB1-144C-055097EE2C4D}"/>
              </a:ext>
            </a:extLst>
          </p:cNvPr>
          <p:cNvSpPr txBox="1"/>
          <p:nvPr/>
        </p:nvSpPr>
        <p:spPr>
          <a:xfrm>
            <a:off x="6591300" y="3818194"/>
            <a:ext cx="5396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Understand what Object-Oriented Programming is and how it differs from other programming paradigms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2B332D-FE0B-B97B-C850-41CD329F7DB0}"/>
              </a:ext>
            </a:extLst>
          </p:cNvPr>
          <p:cNvSpPr txBox="1"/>
          <p:nvPr/>
        </p:nvSpPr>
        <p:spPr>
          <a:xfrm>
            <a:off x="6591300" y="4745239"/>
            <a:ext cx="539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Describe how Java programs are compiled and executed using the JVM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3A962B-941B-2E80-202A-71362D72E2D9}"/>
              </a:ext>
            </a:extLst>
          </p:cNvPr>
          <p:cNvSpPr txBox="1"/>
          <p:nvPr/>
        </p:nvSpPr>
        <p:spPr>
          <a:xfrm>
            <a:off x="6591300" y="5389186"/>
            <a:ext cx="5396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Use basic Java syntax for output, variables, and program structure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75E51629-7971-2404-43AF-D54590F72C3C}"/>
              </a:ext>
            </a:extLst>
          </p:cNvPr>
          <p:cNvSpPr/>
          <p:nvPr/>
        </p:nvSpPr>
        <p:spPr>
          <a:xfrm>
            <a:off x="697724" y="5557690"/>
            <a:ext cx="2592016" cy="699918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D3814-C743-F964-4A5C-4C2A6BDB1691}"/>
              </a:ext>
            </a:extLst>
          </p:cNvPr>
          <p:cNvSpPr txBox="1"/>
          <p:nvPr/>
        </p:nvSpPr>
        <p:spPr>
          <a:xfrm>
            <a:off x="697721" y="5738372"/>
            <a:ext cx="259201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EF903CC7-60A8-CDC6-B44D-085431A39168}"/>
              </a:ext>
            </a:extLst>
          </p:cNvPr>
          <p:cNvSpPr/>
          <p:nvPr/>
        </p:nvSpPr>
        <p:spPr>
          <a:xfrm>
            <a:off x="3503986" y="5541924"/>
            <a:ext cx="2592016" cy="699918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92A125-E9CC-6518-00FB-8F2B2EC81052}"/>
              </a:ext>
            </a:extLst>
          </p:cNvPr>
          <p:cNvSpPr txBox="1"/>
          <p:nvPr/>
        </p:nvSpPr>
        <p:spPr>
          <a:xfrm>
            <a:off x="3503986" y="5712352"/>
            <a:ext cx="25920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</p:spTree>
    <p:extLst>
      <p:ext uri="{BB962C8B-B14F-4D97-AF65-F5344CB8AC3E}">
        <p14:creationId xmlns:p14="http://schemas.microsoft.com/office/powerpoint/2010/main" val="1394508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69FF9-D6AC-3CD8-0C98-C80C0E843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C9C5-D2CD-3A0F-F87C-A0738B49E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PROGRAMMING PARADIGMS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FBEDB1-A973-2725-BE76-506194DEBB76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A5F991-6FF9-54FF-3622-2AD70DE5D6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156C25-64BB-A242-0C2D-304AE01CC6D3}"/>
              </a:ext>
            </a:extLst>
          </p:cNvPr>
          <p:cNvSpPr txBox="1"/>
          <p:nvPr/>
        </p:nvSpPr>
        <p:spPr>
          <a:xfrm>
            <a:off x="3196817" y="1833530"/>
            <a:ext cx="8229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Inter Light" panose="02000503000000020004" pitchFamily="2" charset="0"/>
                <a:ea typeface="Inter Light" panose="02000503000000020004" pitchFamily="2" charset="0"/>
              </a:rPr>
              <a:t>In the world of programming there exist a number of paradigms and </a:t>
            </a:r>
            <a:r>
              <a:rPr lang="en-US" sz="2000" b="1" dirty="0">
                <a:latin typeface="Inter Light" panose="02000503000000020004" pitchFamily="2" charset="0"/>
                <a:ea typeface="Inter Light" panose="02000503000000020004" pitchFamily="2" charset="0"/>
              </a:rPr>
              <a:t>object-oriented programming</a:t>
            </a:r>
            <a:r>
              <a:rPr lang="en-US" sz="2000" dirty="0">
                <a:latin typeface="Inter Light" panose="02000503000000020004" pitchFamily="2" charset="0"/>
                <a:ea typeface="Inter Light" panose="02000503000000020004" pitchFamily="2" charset="0"/>
              </a:rPr>
              <a:t> is one of them.</a:t>
            </a:r>
            <a:endParaRPr lang="en-KZ" sz="20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6496B1-CF2C-0DB7-6F88-B050CDBE5458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E55282EF-660E-2BDD-CD6C-95002134ED04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52CC1A-67FA-DC27-66A3-020A1712D21F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CCFC0656-9DE9-5B6F-E206-E75876B1E12D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894B61-59C7-EE8B-F4C3-EA34EA790A0C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30" name="Round Diagonal Corner Rectangle 29">
            <a:extLst>
              <a:ext uri="{FF2B5EF4-FFF2-40B4-BE49-F238E27FC236}">
                <a16:creationId xmlns:a16="http://schemas.microsoft.com/office/drawing/2014/main" id="{15001122-935D-3CC6-F3C4-5081FA8FC7E1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49B77D-96E0-2ABA-AC73-4F51986F8211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32" name="Round Diagonal Corner Rectangle 31">
            <a:extLst>
              <a:ext uri="{FF2B5EF4-FFF2-40B4-BE49-F238E27FC236}">
                <a16:creationId xmlns:a16="http://schemas.microsoft.com/office/drawing/2014/main" id="{C9B865BC-6BBB-5462-6F28-937883B01D5E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8D1219-6378-93D9-1D78-0DDC6A1F88B2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7B604D-38F7-1805-21F7-E9E1635C51A4}"/>
              </a:ext>
            </a:extLst>
          </p:cNvPr>
          <p:cNvSpPr txBox="1"/>
          <p:nvPr/>
        </p:nvSpPr>
        <p:spPr>
          <a:xfrm>
            <a:off x="3196817" y="2657693"/>
            <a:ext cx="8229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Inter Light" panose="02000503000000020004" pitchFamily="2" charset="0"/>
                <a:ea typeface="Inter Light" panose="02000503000000020004" pitchFamily="2" charset="0"/>
              </a:rPr>
              <a:t>Other programming paradigms include:</a:t>
            </a:r>
            <a:endParaRPr lang="en-KZ" sz="20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20C511-1DBD-2E12-89C1-9038A170F07F}"/>
              </a:ext>
            </a:extLst>
          </p:cNvPr>
          <p:cNvSpPr txBox="1"/>
          <p:nvPr/>
        </p:nvSpPr>
        <p:spPr>
          <a:xfrm>
            <a:off x="3461462" y="3208155"/>
            <a:ext cx="62555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the </a:t>
            </a:r>
            <a:r>
              <a:rPr lang="en-US" b="1" dirty="0">
                <a:latin typeface="Inter Light" panose="02000503000000020004" pitchFamily="2" charset="0"/>
                <a:ea typeface="Inter Light" panose="02000503000000020004" pitchFamily="2" charset="0"/>
              </a:rPr>
              <a:t>imperative programming </a:t>
            </a: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paradigm (supported by languages such as Pascal or C);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the </a:t>
            </a:r>
            <a:r>
              <a:rPr lang="en-US" b="1" dirty="0">
                <a:latin typeface="Inter Light" panose="02000503000000020004" pitchFamily="2" charset="0"/>
                <a:ea typeface="Inter Light" panose="02000503000000020004" pitchFamily="2" charset="0"/>
              </a:rPr>
              <a:t>logic programming</a:t>
            </a: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 paradigm (exemplified by Prolog, FRIL);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the </a:t>
            </a:r>
            <a:r>
              <a:rPr lang="en-US" b="1" dirty="0">
                <a:latin typeface="Inter Light" panose="02000503000000020004" pitchFamily="2" charset="0"/>
                <a:ea typeface="Inter Light" panose="02000503000000020004" pitchFamily="2" charset="0"/>
              </a:rPr>
              <a:t>functional programming </a:t>
            </a: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paradigm (represented by languages such as ML, Haskell, Lisp, F# and Scala).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236B4845-6B06-9DDA-FC6A-1982B4AA8EA7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C452A-6661-838B-EB41-8820B8949734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E7EDE527-E6E3-22AB-4301-35C9F658E6A4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35336-CB79-7E22-6A20-D38AC287CE0F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43DC36-CCEC-D42D-DA32-74B3C1BA6CAA}"/>
              </a:ext>
            </a:extLst>
          </p:cNvPr>
          <p:cNvSpPr txBox="1"/>
          <p:nvPr/>
        </p:nvSpPr>
        <p:spPr>
          <a:xfrm>
            <a:off x="3148049" y="5339933"/>
            <a:ext cx="8229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Inter Light" panose="02000503000000020004" pitchFamily="2" charset="0"/>
                <a:ea typeface="Inter Light" panose="02000503000000020004" pitchFamily="2" charset="0"/>
              </a:rPr>
              <a:t>What is </a:t>
            </a:r>
            <a:r>
              <a:rPr lang="en-US" sz="2000" dirty="0">
                <a:latin typeface="Inter Light" panose="02000503000000020004" pitchFamily="2" charset="0"/>
                <a:ea typeface="Inter Light" panose="02000503000000020004" pitchFamily="2" charset="0"/>
              </a:rPr>
              <a:t>vs </a:t>
            </a:r>
            <a:r>
              <a:rPr lang="en-US" sz="2000" b="1" dirty="0">
                <a:latin typeface="Inter Light" panose="02000503000000020004" pitchFamily="2" charset="0"/>
                <a:ea typeface="Inter Light" panose="02000503000000020004" pitchFamily="2" charset="0"/>
              </a:rPr>
              <a:t>How to</a:t>
            </a:r>
            <a:endParaRPr lang="en-KZ" sz="2000" b="1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BB1DD2-4E1E-E026-7EF6-ACEB728F8A7B}"/>
              </a:ext>
            </a:extLst>
          </p:cNvPr>
          <p:cNvSpPr txBox="1"/>
          <p:nvPr/>
        </p:nvSpPr>
        <p:spPr>
          <a:xfrm>
            <a:off x="3148049" y="593754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Z" sz="1400" dirty="0">
                <a:latin typeface="Inter Light" panose="02000503000000020004" pitchFamily="2" charset="0"/>
                <a:ea typeface="Inter Light" panose="02000503000000020004" pitchFamily="2" charset="0"/>
              </a:rPr>
              <a:t>(Paradigm = way of thinking about programs)</a:t>
            </a:r>
          </a:p>
        </p:txBody>
      </p:sp>
    </p:spTree>
    <p:extLst>
      <p:ext uri="{BB962C8B-B14F-4D97-AF65-F5344CB8AC3E}">
        <p14:creationId xmlns:p14="http://schemas.microsoft.com/office/powerpoint/2010/main" val="3375824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FCA2-F66B-7A69-0083-E699CBDC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7A12-2351-AEEA-11E8-8109486E6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PROCEDURAL PROGRAMMING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FB8F31-DC7C-28C6-C532-CA0E711D82BF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A1BD75-A160-FF54-7A20-B25713A4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023BBB-538D-8AC3-F398-FDDFBDB045CF}"/>
              </a:ext>
            </a:extLst>
          </p:cNvPr>
          <p:cNvSpPr txBox="1"/>
          <p:nvPr/>
        </p:nvSpPr>
        <p:spPr>
          <a:xfrm>
            <a:off x="3282742" y="3311201"/>
            <a:ext cx="4320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Program = sequence of instructions </a:t>
            </a:r>
          </a:p>
          <a:p>
            <a:endParaRPr lang="en-US" dirty="0">
              <a:latin typeface="Inter Light" panose="02000503000000020004" pitchFamily="2" charset="0"/>
              <a:ea typeface="Inter Light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Focus on </a:t>
            </a:r>
            <a:r>
              <a:rPr lang="en-US" i="1" dirty="0">
                <a:latin typeface="Inter Light" panose="02000503000000020004" pitchFamily="2" charset="0"/>
                <a:ea typeface="Inter Light" panose="02000503000000020004" pitchFamily="2" charset="0"/>
              </a:rPr>
              <a:t>how to solve</a:t>
            </a: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 a problem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Data and functions are separate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A604E0-4FD7-8C8A-8685-ED2224ED633C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58ED428-2DEE-49B5-8EE4-CC1AD557630A}"/>
              </a:ext>
            </a:extLst>
          </p:cNvPr>
          <p:cNvCxnSpPr>
            <a:cxnSpLocks/>
          </p:cNvCxnSpPr>
          <p:nvPr/>
        </p:nvCxnSpPr>
        <p:spPr>
          <a:xfrm rot="10800000">
            <a:off x="7524207" y="4511253"/>
            <a:ext cx="992777" cy="346297"/>
          </a:xfrm>
          <a:prstGeom prst="curvedConnector3">
            <a:avLst>
              <a:gd name="adj1" fmla="val 50000"/>
            </a:avLst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F448FD0-935F-CBF3-CCCD-F37EACC1C73A}"/>
              </a:ext>
            </a:extLst>
          </p:cNvPr>
          <p:cNvSpPr txBox="1"/>
          <p:nvPr/>
        </p:nvSpPr>
        <p:spPr>
          <a:xfrm>
            <a:off x="8516984" y="4594128"/>
            <a:ext cx="1317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Inter Light" panose="02000503000000020004" pitchFamily="2" charset="0"/>
                <a:ea typeface="Inter Light" panose="02000503000000020004" pitchFamily="2" charset="0"/>
              </a:rPr>
              <a:t>Sieve of Eratosthenes</a:t>
            </a:r>
            <a:endParaRPr lang="en-KZ" sz="1400" dirty="0">
              <a:solidFill>
                <a:schemeClr val="bg1"/>
              </a:solidFill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57142838-39B5-F753-E8E7-7D1B51E6FC25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6BD53-1F22-AC0D-3CC0-E256E42516DA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8233C209-D253-219F-8D56-AB1208F49BA4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71A1B-4A5E-9BF6-E5DD-665481DCE473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6" name="Round Diagonal Corner Rectangle 15">
            <a:extLst>
              <a:ext uri="{FF2B5EF4-FFF2-40B4-BE49-F238E27FC236}">
                <a16:creationId xmlns:a16="http://schemas.microsoft.com/office/drawing/2014/main" id="{E33F245D-F389-DA0E-DDAD-D9E1FC0D801E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DA3237-172A-D762-428B-4BA27946BE38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1" name="Round Diagonal Corner Rectangle 20">
            <a:extLst>
              <a:ext uri="{FF2B5EF4-FFF2-40B4-BE49-F238E27FC236}">
                <a16:creationId xmlns:a16="http://schemas.microsoft.com/office/drawing/2014/main" id="{6EC373C9-2A79-F7C3-67C2-0E722FE060A0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BAFABC-9366-887E-6EAF-CDF8DED44BDC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690700D1-58FA-C869-B24B-6EB6D0E765D8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11D3BC-8C80-97A6-1283-AA874CF920C3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C5008902-0570-ACC1-FD1C-8964A2C417D8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CFC20D-7CC6-6410-3848-DC834DCA7CF9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AEC9861-9410-E1B4-2AEA-F2F5610A1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098" y="2299059"/>
            <a:ext cx="3498704" cy="322461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71CE790-DC69-FB52-26EC-43F4882F0568}"/>
              </a:ext>
            </a:extLst>
          </p:cNvPr>
          <p:cNvSpPr txBox="1"/>
          <p:nvPr/>
        </p:nvSpPr>
        <p:spPr>
          <a:xfrm>
            <a:off x="2915792" y="6008372"/>
            <a:ext cx="6106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1200" dirty="0">
                <a:latin typeface="Inter Light" panose="02000503000000020004" pitchFamily="2" charset="0"/>
                <a:ea typeface="Inter Light" panose="02000503000000020004" pitchFamily="2" charset="0"/>
              </a:rPr>
              <a:t>Referenced from: 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  <a:hlinkClick r:id="rId4"/>
              </a:rPr>
              <a:t>https://www.scaler.com/topics/cpp/procedural-programming/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</a:rPr>
              <a:t> </a:t>
            </a:r>
            <a:endParaRPr lang="en-KZ" sz="12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908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3DD5-D579-478B-4224-18D0CFD5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381FD-E05D-49EE-AED3-17D7BD2CE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 OF PROCEDURAL CODE</a:t>
            </a:r>
            <a:endParaRPr lang="en-KZ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23A05-4479-4992-CAE0-E9BD2C6D7390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F65643-F822-963A-F72A-A731C1CB55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249552-4D2C-0F17-287E-448833B6E7A4}"/>
              </a:ext>
            </a:extLst>
          </p:cNvPr>
          <p:cNvSpPr txBox="1"/>
          <p:nvPr/>
        </p:nvSpPr>
        <p:spPr>
          <a:xfrm>
            <a:off x="3106536" y="1739045"/>
            <a:ext cx="8229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"The object-oriented version of 'Spaghetti* code' is, of course, 'Lasagna code'. (Too many layers)."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A1515-B78B-DB19-4574-252861F97980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25F6F56A-5F18-54C9-A247-D8E0555151C0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F8352-C4AA-D0FA-2649-5CFE090BA6CB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74F2CFB0-8C92-053A-F68D-6BB1A70D9CCF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C860C1-3BE3-076D-558B-95D6C39C09DD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8E112094-E77F-3C29-5FFE-3DFAD7F2B6B7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85B047-0814-357F-C172-37B577644648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1" name="Round Diagonal Corner Rectangle 20">
            <a:extLst>
              <a:ext uri="{FF2B5EF4-FFF2-40B4-BE49-F238E27FC236}">
                <a16:creationId xmlns:a16="http://schemas.microsoft.com/office/drawing/2014/main" id="{31EA9FDE-2656-FF81-0903-AC0E6BBDA765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C2538A-0DC3-DE1B-3E90-22321BB57A12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69992622-CFB5-83CE-07B9-5D9B26CE435A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D0D62B-8392-0742-B7BF-504F1AE4213B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A7E9B3AB-F471-7716-007D-43F02A7035E5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545483-E693-09EF-B017-1E64288DE633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8674263-5FE0-DE0B-A8A8-74647D799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742" y="2272787"/>
            <a:ext cx="4363658" cy="324422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2B45D2-3CFA-868D-6C8C-793DE5C32EE3}"/>
              </a:ext>
            </a:extLst>
          </p:cNvPr>
          <p:cNvSpPr txBox="1"/>
          <p:nvPr/>
        </p:nvSpPr>
        <p:spPr>
          <a:xfrm>
            <a:off x="2915792" y="5745889"/>
            <a:ext cx="82296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</a:rPr>
              <a:t>* Spaghetti code represents an unorganized code with no clear structure, beginning or ending.</a:t>
            </a:r>
            <a:endParaRPr lang="en-KZ" sz="12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E4D25C-5583-6B4C-7F29-863DDEE6341E}"/>
              </a:ext>
            </a:extLst>
          </p:cNvPr>
          <p:cNvSpPr txBox="1"/>
          <p:nvPr/>
        </p:nvSpPr>
        <p:spPr>
          <a:xfrm>
            <a:off x="3106537" y="2519333"/>
            <a:ext cx="4013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- Roberto Waltman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DBF40D-F3F1-9324-FFDC-092A380ABF98}"/>
              </a:ext>
            </a:extLst>
          </p:cNvPr>
          <p:cNvSpPr txBox="1"/>
          <p:nvPr/>
        </p:nvSpPr>
        <p:spPr>
          <a:xfrm>
            <a:off x="2915792" y="6008372"/>
            <a:ext cx="8971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1200" dirty="0">
                <a:latin typeface="Inter Light" panose="02000503000000020004" pitchFamily="2" charset="0"/>
                <a:ea typeface="Inter Light" panose="02000503000000020004" pitchFamily="2" charset="0"/>
              </a:rPr>
              <a:t>Referenced from: 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  <a:hlinkClick r:id="rId4"/>
              </a:rPr>
              <a:t>https://duythinbmt.medium.com/spaghetti-code-what-is-it-and-how-we-avoid-it-34acf97e76b3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</a:rPr>
              <a:t> </a:t>
            </a:r>
            <a:endParaRPr lang="en-KZ" sz="12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B23D11-93A5-B366-0BF3-4BFB508471BB}"/>
              </a:ext>
            </a:extLst>
          </p:cNvPr>
          <p:cNvSpPr txBox="1"/>
          <p:nvPr/>
        </p:nvSpPr>
        <p:spPr>
          <a:xfrm>
            <a:off x="3106536" y="3437555"/>
            <a:ext cx="2696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Hard to maintain;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Hard to scale;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Hard to reuse.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60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E0D83-C144-9DFF-37DE-AD636D80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8E24-4A0E-4F19-32A8-3795CB34E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OBJECT-ORIENTED PROGRAMMING IDEA</a:t>
            </a:r>
            <a:endParaRPr lang="en-KZ" sz="2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0CF20-ABAB-3564-6955-4EEF7A344FE6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B34E7-9A64-A0A1-A049-921F96563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3542D3-DE9C-24B4-6F6B-162CD7DDD296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3E27A2C-9D29-D7E5-919C-F1B8A7078D37}"/>
              </a:ext>
            </a:extLst>
          </p:cNvPr>
          <p:cNvSpPr txBox="1"/>
          <p:nvPr/>
        </p:nvSpPr>
        <p:spPr>
          <a:xfrm>
            <a:off x="3074012" y="6174113"/>
            <a:ext cx="7886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1200" dirty="0">
                <a:latin typeface="Inter Light" panose="02000503000000020004" pitchFamily="2" charset="0"/>
                <a:ea typeface="Inter Light" panose="02000503000000020004" pitchFamily="2" charset="0"/>
              </a:rPr>
              <a:t>Referenced from: 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  <a:hlinkClick r:id="rId3"/>
              </a:rPr>
              <a:t>https://www.puckarabia.com/en/recipes/easy-beef-lasagna-with-bechamel-sauce/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</a:rPr>
              <a:t> </a:t>
            </a:r>
            <a:endParaRPr lang="en-KZ" sz="12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98ACD1-DA12-0210-49CE-E60298705E16}"/>
              </a:ext>
            </a:extLst>
          </p:cNvPr>
          <p:cNvSpPr txBox="1"/>
          <p:nvPr/>
        </p:nvSpPr>
        <p:spPr>
          <a:xfrm>
            <a:off x="7123417" y="3230395"/>
            <a:ext cx="4391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Program = interacting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Focus on what the system does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Real-world modeling programming language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A6B21498-5D23-80F9-7BA3-9E0C8608A080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69174-2944-8722-4B3B-FC03654CA9A6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3E40D040-AAEA-1FD0-536C-19B7EDC900E6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F44EE-ACF4-F98D-3C6C-396CC7CE414D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23265CF3-BBC1-D738-3512-55F343636F2D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86F81C-9AEE-10CE-DE9B-D0169A9BBE27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id="{FFE6A632-5567-3E7F-04C9-6978D3EF8BF4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474104-018F-F4ED-26EE-860A758DF150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57DEEF70-F675-29D9-3282-AF6FA6C38ED6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89C2CB-3DDF-2F88-0C61-012AA04927E0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D8D67395-867E-6FC5-BFBC-FC38014F7A82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07A14A-9474-BF1A-321C-4538765BFE0F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CD48043-89DD-8AD5-C05A-0A064FEF0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119" y="2874569"/>
            <a:ext cx="3618262" cy="188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DB22-B762-661D-4060-1FC8F59D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53DD2E-19A3-C5E4-F03E-AE56DF95CF5C}"/>
              </a:ext>
            </a:extLst>
          </p:cNvPr>
          <p:cNvSpPr/>
          <p:nvPr/>
        </p:nvSpPr>
        <p:spPr>
          <a:xfrm>
            <a:off x="0" y="2680138"/>
            <a:ext cx="12192000" cy="1497724"/>
          </a:xfrm>
          <a:prstGeom prst="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82505-BA8D-E378-756D-A8E0D8C0AADE}"/>
              </a:ext>
            </a:extLst>
          </p:cNvPr>
          <p:cNvSpPr txBox="1"/>
          <p:nvPr/>
        </p:nvSpPr>
        <p:spPr>
          <a:xfrm>
            <a:off x="701566" y="3105834"/>
            <a:ext cx="1078886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CORE OOP IDEAS</a:t>
            </a:r>
            <a:endParaRPr lang="en-KZ" sz="3600" dirty="0">
              <a:gradFill flip="none" rotWithShape="1">
                <a:gsLst>
                  <a:gs pos="0">
                    <a:schemeClr val="bg1"/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DAE8-0111-2023-690C-24CD082F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CDF5-B6F4-49B5-A2E6-6064686D3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AN OBJECT?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58C8B-B7A9-2BE0-2464-F7A23CAE8877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430EE0-9773-AE17-7813-459EDBAA27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9C336B-BB08-5BEB-579A-3A3B15465DD1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A9E467FB-A632-3A3A-8FFD-2934EA595F00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CEC69-02CC-A9D4-BCCB-0F0B5491D267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67C4F0E5-1DF5-838F-1667-CAE23141F1C3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663C7-C9D3-BD30-3021-7C61F4DFF014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E2A6A0BF-BA56-E0F7-5B07-97290259B940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21572-27F0-A83B-209F-C127891CCA35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id="{CC09C51A-BB9A-991B-C780-F79AA279DE15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DE9244-563C-89B5-14DF-6D1EFD7D0C64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52D30167-CD1D-E812-D155-4AAE352969E9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6C71B-BAC4-A22A-9645-CB5EE2752CF0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FE0623EE-2CDC-2C77-768F-1A598D9ABA4D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5BE146-040F-C701-343F-263702772D84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5B855C-302D-7F21-FE8B-1CFEDA98D142}"/>
              </a:ext>
            </a:extLst>
          </p:cNvPr>
          <p:cNvSpPr txBox="1"/>
          <p:nvPr/>
        </p:nvSpPr>
        <p:spPr>
          <a:xfrm>
            <a:off x="2920779" y="1817797"/>
            <a:ext cx="803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An </a:t>
            </a:r>
            <a:r>
              <a:rPr lang="en-US" b="1" dirty="0">
                <a:latin typeface="Inter Light" panose="02000503000000020004" pitchFamily="2" charset="0"/>
                <a:ea typeface="Inter Light" panose="02000503000000020004" pitchFamily="2" charset="0"/>
              </a:rPr>
              <a:t>object-oriented program </a:t>
            </a: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is seen as a community of interacting agents called objects.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6F3717-B266-CF0A-110A-DBFC6AF8F014}"/>
              </a:ext>
            </a:extLst>
          </p:cNvPr>
          <p:cNvSpPr txBox="1"/>
          <p:nvPr/>
        </p:nvSpPr>
        <p:spPr>
          <a:xfrm>
            <a:off x="3060464" y="3509048"/>
            <a:ext cx="22825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Has state (data);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Has behavior (methods);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Has responsibility;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4577BF9-9D38-31C9-7679-113E7FAFBB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88"/>
          <a:stretch>
            <a:fillRect/>
          </a:stretch>
        </p:blipFill>
        <p:spPr>
          <a:xfrm>
            <a:off x="5493950" y="2823907"/>
            <a:ext cx="2840735" cy="281786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46122EB-75C4-D4D3-E8C6-DF6C4303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479"/>
          <a:stretch>
            <a:fillRect/>
          </a:stretch>
        </p:blipFill>
        <p:spPr>
          <a:xfrm>
            <a:off x="8580701" y="2823907"/>
            <a:ext cx="3001699" cy="2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25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3A6C-8E2B-39A6-9B65-BD9B15507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C774-A4C9-3B0B-EA32-C14E518FE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OBJECTS INTERACTION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E56A89-BDC3-87CA-714D-AAA45EF80046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00CF4-3B2E-6DBF-1FB1-5EAD439B5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99C972-6C5F-5857-DD02-F9BE0480EF56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E99192B3-98F9-02E0-0E38-90304C23D000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A6611-ACC9-B87D-DA72-FC53E22461F3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37FDA930-F1D5-989F-9F49-837733CC0234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BE1B86-EC1F-6DA4-C151-9718594CADEA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479ABD97-9CF7-1A82-4681-A989DDB9AEE5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A3E15-BA26-69E1-6FDF-0CD0DDB1BC1A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74E998F4-2D8C-02FB-3C20-098F5A9634AE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BECF34-3FB4-FF09-725B-BE24C99F72C0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84396595-4448-02A8-BAD8-B9014CF79462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F37986-ABB4-DDA7-38D6-96F9944F6631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621E64F1-B0F8-0A45-5E16-2FF1A9DFA3D0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A1A6F4-D5C0-6C69-9A7F-3EBFF11C03A2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47E781-7378-C8FE-1998-4A320F0CD1B5}"/>
              </a:ext>
            </a:extLst>
          </p:cNvPr>
          <p:cNvSpPr txBox="1"/>
          <p:nvPr/>
        </p:nvSpPr>
        <p:spPr>
          <a:xfrm>
            <a:off x="3078937" y="1980584"/>
            <a:ext cx="79369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Each object has a role to play. It has some state and behavior. Each object provides a service or performs an action used by other members of the community.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D9415-1083-976A-4C47-4567DDFE8856}"/>
              </a:ext>
            </a:extLst>
          </p:cNvPr>
          <p:cNvSpPr txBox="1"/>
          <p:nvPr/>
        </p:nvSpPr>
        <p:spPr>
          <a:xfrm>
            <a:off x="3393735" y="3215574"/>
            <a:ext cx="30045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Objects send messages;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Objects use services of other objects;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System = community of objects.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1C4CDD8-61D3-E865-19F9-DC9464FED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574" y="2750027"/>
            <a:ext cx="4025836" cy="289068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CD6BB26-00AB-EA5A-A096-06F3545E501C}"/>
              </a:ext>
            </a:extLst>
          </p:cNvPr>
          <p:cNvSpPr txBox="1"/>
          <p:nvPr/>
        </p:nvSpPr>
        <p:spPr>
          <a:xfrm>
            <a:off x="3074012" y="6174113"/>
            <a:ext cx="7886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1200" dirty="0">
                <a:latin typeface="Inter Light" panose="02000503000000020004" pitchFamily="2" charset="0"/>
                <a:ea typeface="Inter Light" panose="02000503000000020004" pitchFamily="2" charset="0"/>
              </a:rPr>
              <a:t>Referenced from: 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  <a:hlinkClick r:id="rId4"/>
              </a:rPr>
              <a:t>https://reliasoftware.com/blog/what-is-object-oriented-programming-oop</a:t>
            </a:r>
            <a:endParaRPr lang="en-KZ" sz="12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736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4FF9-4822-763C-2E32-A1545EC53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13E63-74BB-1526-294F-57643E892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OOP PRINCIPLES (OVERVIEW)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230422-A8B3-6757-2D8A-A82F2DFC02D8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6B3F6-84F6-ADEF-F70F-C5D76FAE20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847391-FE36-EADB-35A9-8B59AE388F8A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BCEBB9C5-AA8F-B588-EC4A-2B6947EE5C77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2059C8-160C-35AF-6F2F-204FE9D9834C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2E5EC63B-FD83-24B2-6F28-4C211FA2A587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0CC1D1-5A71-53CB-6340-8EF441A8C631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791324AF-5D2B-5112-AF0A-837374C9EEEC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AAF3BD-C8E6-4E7C-4906-518A2AD37C2A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BB6923CD-9445-B5CC-C9EF-0C99EE552194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1E9FB5-6453-8693-0A87-66F7DA8D6137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E1116FCD-D942-0E5D-91B6-AEC69284BE5E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39612B-E89A-1D69-F487-B7F0177F77B1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D0CBF7BD-C316-A536-D283-8D61967D4BEB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4334A-E225-28B1-DE82-7589A28D3AB1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216B82-27E5-4391-DB76-DDD4CFA1E804}"/>
              </a:ext>
            </a:extLst>
          </p:cNvPr>
          <p:cNvSpPr txBox="1"/>
          <p:nvPr/>
        </p:nvSpPr>
        <p:spPr>
          <a:xfrm>
            <a:off x="3238090" y="5297714"/>
            <a:ext cx="3182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Inter Light" panose="02000503000000020004" pitchFamily="2" charset="0"/>
                <a:ea typeface="Inter Light" panose="02000503000000020004" pitchFamily="2" charset="0"/>
              </a:rPr>
              <a:t>(Detailed later in course)</a:t>
            </a:r>
            <a:endParaRPr lang="en-KZ" i="1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DC74389-46E5-B2D5-460C-2E62E6A15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404" y="1817797"/>
            <a:ext cx="6731000" cy="29845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994B1D3-E456-26D4-E836-2FF000F10BCC}"/>
              </a:ext>
            </a:extLst>
          </p:cNvPr>
          <p:cNvSpPr txBox="1"/>
          <p:nvPr/>
        </p:nvSpPr>
        <p:spPr>
          <a:xfrm>
            <a:off x="3074012" y="6025865"/>
            <a:ext cx="7886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1200" dirty="0">
                <a:latin typeface="Inter Light" panose="02000503000000020004" pitchFamily="2" charset="0"/>
                <a:ea typeface="Inter Light" panose="02000503000000020004" pitchFamily="2" charset="0"/>
              </a:rPr>
              <a:t>Referenced from: 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  <a:hlinkClick r:id="rId4"/>
              </a:rPr>
              <a:t>https://www.scaler.com/topics/cpp/procedural-programming/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</a:rPr>
              <a:t> </a:t>
            </a:r>
            <a:endParaRPr lang="en-KZ" sz="12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8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3E10-3888-B0F8-7622-BB3D2499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D11427-EF62-D913-BC37-4DA66727D4A0}"/>
              </a:ext>
            </a:extLst>
          </p:cNvPr>
          <p:cNvSpPr/>
          <p:nvPr/>
        </p:nvSpPr>
        <p:spPr>
          <a:xfrm>
            <a:off x="0" y="2680138"/>
            <a:ext cx="12192000" cy="1497724"/>
          </a:xfrm>
          <a:prstGeom prst="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631BF-D00D-B1C1-9784-0F48F897C1EE}"/>
              </a:ext>
            </a:extLst>
          </p:cNvPr>
          <p:cNvSpPr txBox="1"/>
          <p:nvPr/>
        </p:nvSpPr>
        <p:spPr>
          <a:xfrm>
            <a:off x="701566" y="3105834"/>
            <a:ext cx="1078886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IS JAVA?</a:t>
            </a:r>
            <a:endParaRPr lang="en-KZ" sz="3600" dirty="0">
              <a:gradFill flip="none" rotWithShape="1">
                <a:gsLst>
                  <a:gs pos="0">
                    <a:schemeClr val="bg1"/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222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1BD5-4AB7-5E34-7B89-FB8E995A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6767-3782-C85C-5316-19F6DBE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JAVA?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0DA6DE-F5B4-4495-EEBF-DD797DB3B3B8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EACBBA-2B90-5EC6-12D9-C7492E2EF4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2D6179-C81F-BDAC-A88F-9716C7C6AEB8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DA233C98-80BB-04A6-EBA9-9575B48B94F4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36465-BC95-A957-F109-2B479CF8548E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51D52EC2-1E44-321E-548E-083BF6FE1158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ADD24-BB3E-A4A7-B6B2-632338BB5CCD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35624488-102C-B819-FFB8-EC2C9F21C65D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6B4F3-C1E1-B0F6-8292-3CBEEBB1824A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id="{6F8F7CC6-7E5F-63A4-7972-F2BE4C50CFD2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D9FB6E-17AF-5CA9-8A3C-051481412683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6A31A9F6-7194-015A-719C-4BDABA34BFC5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4637DB-EA38-905F-9AD1-70BEB86359A3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C04B68DC-421E-A27D-C68A-9AF253588CF3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D9DD60-6E93-BA47-0616-1B54B9994FDE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E85563-610B-FEE2-22C4-52A33535420B}"/>
              </a:ext>
            </a:extLst>
          </p:cNvPr>
          <p:cNvSpPr txBox="1"/>
          <p:nvPr/>
        </p:nvSpPr>
        <p:spPr>
          <a:xfrm>
            <a:off x="3182111" y="5093781"/>
            <a:ext cx="42306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KZ" dirty="0">
                <a:latin typeface="Inter Light" panose="02000503000000020004" pitchFamily="2" charset="0"/>
                <a:ea typeface="Inter Light" panose="02000503000000020004" pitchFamily="2" charset="0"/>
              </a:rPr>
              <a:t>General-purpose language;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KZ" dirty="0">
                <a:latin typeface="Inter Light" panose="02000503000000020004" pitchFamily="2" charset="0"/>
                <a:ea typeface="Inter Light" panose="02000503000000020004" pitchFamily="2" charset="0"/>
              </a:rPr>
              <a:t>Object-oriented;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KZ" dirty="0">
                <a:latin typeface="Inter Light" panose="02000503000000020004" pitchFamily="2" charset="0"/>
                <a:ea typeface="Inter Light" panose="02000503000000020004" pitchFamily="2" charset="0"/>
              </a:rPr>
              <a:t>Platform-independent.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34ADF1-6AB3-007D-19A3-72E32F7D8283}"/>
              </a:ext>
            </a:extLst>
          </p:cNvPr>
          <p:cNvSpPr txBox="1"/>
          <p:nvPr/>
        </p:nvSpPr>
        <p:spPr>
          <a:xfrm>
            <a:off x="3182111" y="1999510"/>
            <a:ext cx="80589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Inter Light" panose="02000503000000020004" pitchFamily="2" charset="0"/>
                <a:ea typeface="Inter Light" panose="02000503000000020004" pitchFamily="2" charset="0"/>
              </a:rPr>
              <a:t>Java is a general‐purpose object‐oriented language. It is intended to let application developers </a:t>
            </a:r>
            <a:r>
              <a:rPr lang="en-US" sz="2400" b="1" dirty="0">
                <a:latin typeface="Inter Light" panose="02000503000000020004" pitchFamily="2" charset="0"/>
                <a:ea typeface="Inter Light" panose="02000503000000020004" pitchFamily="2" charset="0"/>
              </a:rPr>
              <a:t>"write once, run anywhere"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6FBAC7-9358-6ED9-036C-67459D457FAB}"/>
              </a:ext>
            </a:extLst>
          </p:cNvPr>
          <p:cNvSpPr txBox="1"/>
          <p:nvPr/>
        </p:nvSpPr>
        <p:spPr>
          <a:xfrm>
            <a:off x="3182111" y="3584470"/>
            <a:ext cx="80589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Inter Light" panose="02000503000000020004" pitchFamily="2" charset="0"/>
                <a:ea typeface="Inter Light" panose="02000503000000020004" pitchFamily="2" charset="0"/>
              </a:rPr>
              <a:t>Java applications are typically compiled to bytecode (class file) that can run on any </a:t>
            </a:r>
            <a:r>
              <a:rPr lang="en-US" sz="2400" b="1" dirty="0">
                <a:latin typeface="Inter Light" panose="02000503000000020004" pitchFamily="2" charset="0"/>
                <a:ea typeface="Inter Light" panose="02000503000000020004" pitchFamily="2" charset="0"/>
              </a:rPr>
              <a:t>Java Virtual Machine (JVM)</a:t>
            </a:r>
            <a:r>
              <a:rPr lang="en-US" sz="2400" dirty="0">
                <a:latin typeface="Inter Light" panose="02000503000000020004" pitchFamily="2" charset="0"/>
                <a:ea typeface="Inter Light" panose="02000503000000020004" pitchFamily="2" charset="0"/>
              </a:rPr>
              <a:t> regardless of computer architecture.</a:t>
            </a:r>
            <a:endParaRPr lang="en-US" sz="2400" b="1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848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2098-3092-3300-7B25-DB07ABCE5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7704-7BDA-D5A4-58AD-3BE616012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 JAVA?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6C551-B6E3-4EA8-E9A4-0AB66FB18024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7711FE-BE4F-735D-0ECA-B061A9921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80BDC7-58A9-E41F-B0B5-85AAA1A15A87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E4B5D89C-DCD2-CA21-C5BE-05F78F2120B9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C46443-6087-EF39-D33A-6AFB33648DF2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45AA15EE-7567-1DD2-900F-C66124E2D1A8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2073C4-78D3-051C-EEF9-2CAA1FE39C7D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7D9AC4B9-EC45-97D5-3910-9B728E0DB701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CF6ECA-5EA3-0DD7-884B-F356E5FB37F9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C309D1F4-B390-702B-97FD-505667AAB164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91B72-75B5-6A87-0DAF-D0B742EE6E32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FEB44DA8-F05A-0B87-EAB0-2110B02DF743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8B6140-23F4-55BD-D31B-28C786FBD610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308C4413-7C4D-38CF-4866-AC33C0B278BE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162E30-A939-D510-55F3-130480DA4543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2DEE98-22D2-0C17-B2E3-A7CA429444EF}"/>
              </a:ext>
            </a:extLst>
          </p:cNvPr>
          <p:cNvSpPr txBox="1"/>
          <p:nvPr/>
        </p:nvSpPr>
        <p:spPr>
          <a:xfrm>
            <a:off x="3048000" y="18620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KZ" dirty="0">
                <a:latin typeface="Inter Light" panose="02000503000000020004" pitchFamily="2" charset="0"/>
                <a:ea typeface="Inter Light" panose="02000503000000020004" pitchFamily="2" charset="0"/>
              </a:rPr>
              <a:t>Strong ecosystem;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KZ" dirty="0">
                <a:latin typeface="Inter Light" panose="02000503000000020004" pitchFamily="2" charset="0"/>
                <a:ea typeface="Inter Light" panose="02000503000000020004" pitchFamily="2" charset="0"/>
              </a:rPr>
              <a:t>Used in industry &amp; academia.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00BB90-5149-AE15-6F20-9F5F1C8FC132}"/>
              </a:ext>
            </a:extLst>
          </p:cNvPr>
          <p:cNvSpPr txBox="1"/>
          <p:nvPr/>
        </p:nvSpPr>
        <p:spPr>
          <a:xfrm>
            <a:off x="3047999" y="2642349"/>
            <a:ext cx="6803133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Inter Light" panose="02000503000000020004" pitchFamily="2" charset="0"/>
                <a:ea typeface="Inter Light" panose="02000503000000020004" pitchFamily="2" charset="0"/>
              </a:rPr>
              <a:t>Simple (the language itself)</a:t>
            </a:r>
          </a:p>
          <a:p>
            <a:r>
              <a:rPr lang="en-US" b="1" dirty="0">
                <a:latin typeface="Inter Light" panose="02000503000000020004" pitchFamily="2" charset="0"/>
                <a:ea typeface="Inter Light" panose="02000503000000020004" pitchFamily="2" charset="0"/>
              </a:rPr>
              <a:t>Object oriented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focus on the data (objects) and methods manipulating the data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all functions are associated with objects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almost all datatypes are objects (files, strings, etc.)</a:t>
            </a:r>
          </a:p>
          <a:p>
            <a:r>
              <a:rPr lang="en-US" b="1" dirty="0">
                <a:latin typeface="Inter Light" panose="02000503000000020004" pitchFamily="2" charset="0"/>
                <a:ea typeface="Inter Light" panose="02000503000000020004" pitchFamily="2" charset="0"/>
              </a:rPr>
              <a:t>Portable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same application runs on all platforms</a:t>
            </a:r>
          </a:p>
          <a:p>
            <a:r>
              <a:rPr lang="en-US" b="1" dirty="0">
                <a:latin typeface="Inter Light" panose="02000503000000020004" pitchFamily="2" charset="0"/>
                <a:ea typeface="Inter Light" panose="02000503000000020004" pitchFamily="2" charset="0"/>
              </a:rPr>
              <a:t>Dynamic Memory Management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600" dirty="0">
                <a:latin typeface="Inter Light" panose="02000503000000020004" pitchFamily="2" charset="0"/>
                <a:ea typeface="Inter Light" panose="02000503000000020004" pitchFamily="2" charset="0"/>
              </a:rPr>
              <a:t>garbage collection</a:t>
            </a:r>
          </a:p>
        </p:txBody>
      </p:sp>
    </p:spTree>
    <p:extLst>
      <p:ext uri="{BB962C8B-B14F-4D97-AF65-F5344CB8AC3E}">
        <p14:creationId xmlns:p14="http://schemas.microsoft.com/office/powerpoint/2010/main" val="2336964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3EA28-42ED-E9B8-80F6-86F7275D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FDD-468B-D144-B948-B693F2D40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JAVA KEY FEATURES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E130FE-9744-8F37-8DFF-FAD7DF6F2816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1F8BA2-77F5-A341-E245-C73FD76D8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229CBE-F6FE-9A2E-C0D5-2366B29589E6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8DB9A4AC-6C75-A949-2F8C-C5E4790203C3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9C5F16-972B-4F15-2123-3C3521CD3F24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8A1048B7-3585-3DBA-2F21-44C50F706ED8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9ADCF8-7ECB-6382-12EF-08092B962E7B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5F33931F-6C09-37FF-758E-FD2BB728322A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4043EA-889B-8BAF-A9A7-3DCA1E9C20E9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0793B6E1-501A-C0DF-A1F3-B49A3BFC45E7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7FB3C2-670B-4C16-69B1-F2A8502079FD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ACE507CD-CBDF-1843-16CA-C9645E00A30C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3161E6-778E-F070-C52F-893965692DD1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5FFB0718-AE39-050B-AB70-E83AD7694A08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FEAB16-1286-C0B8-4B37-C06A293B64F3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D4B939-6702-FDCC-8E65-CB26565E6D8A}"/>
              </a:ext>
            </a:extLst>
          </p:cNvPr>
          <p:cNvSpPr txBox="1"/>
          <p:nvPr/>
        </p:nvSpPr>
        <p:spPr>
          <a:xfrm>
            <a:off x="2981737" y="1494847"/>
            <a:ext cx="8686008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Inter Light" panose="02000503000000020004" pitchFamily="2" charset="0"/>
                <a:ea typeface="Inter Light" panose="02000503000000020004" pitchFamily="2" charset="0"/>
              </a:rPr>
              <a:t>Reliable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extensive compile-time and runtime error checking (e.g. bytecode </a:t>
            </a:r>
            <a:r>
              <a:rPr lang="en-US" sz="1400" dirty="0" err="1">
                <a:latin typeface="Inter Light" panose="02000503000000020004" pitchFamily="2" charset="0"/>
                <a:ea typeface="Inter Light" panose="02000503000000020004" pitchFamily="2" charset="0"/>
              </a:rPr>
              <a:t>cheking</a:t>
            </a: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)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no pointers but real arrays. Memory corruptions or unauthorized memory accesses are impossible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automatic garbage collection tracks objects usage over time</a:t>
            </a:r>
          </a:p>
          <a:p>
            <a:r>
              <a:rPr lang="en-US" sz="1600" b="1" dirty="0">
                <a:latin typeface="Inter Light" panose="02000503000000020004" pitchFamily="2" charset="0"/>
                <a:ea typeface="Inter Light" panose="02000503000000020004" pitchFamily="2" charset="0"/>
              </a:rPr>
              <a:t>Interpreted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java compiler generate byte-codes, not native machine code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the compiled byte-codes are platform-independent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java bytecodes are translated on the fly to machine readable instructions in runtime (Java Virtual Machine)</a:t>
            </a:r>
          </a:p>
          <a:p>
            <a:r>
              <a:rPr lang="en-US" sz="1600" b="1" dirty="0">
                <a:latin typeface="Inter Light" panose="02000503000000020004" pitchFamily="2" charset="0"/>
                <a:ea typeface="Inter Light" panose="02000503000000020004" pitchFamily="2" charset="0"/>
              </a:rPr>
              <a:t>Network Support</a:t>
            </a:r>
          </a:p>
          <a:p>
            <a:r>
              <a:rPr lang="en-US" sz="1600" b="1" dirty="0">
                <a:latin typeface="Inter Light" panose="02000503000000020004" pitchFamily="2" charset="0"/>
                <a:ea typeface="Inter Light" panose="02000503000000020004" pitchFamily="2" charset="0"/>
              </a:rPr>
              <a:t>Secure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usage in networked environments requires more security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memory allocation model is a major defense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access restrictions are forced (private, public)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array access bounds checking</a:t>
            </a:r>
          </a:p>
          <a:p>
            <a:r>
              <a:rPr lang="en-US" sz="1600" b="1" dirty="0">
                <a:latin typeface="Inter Light" panose="02000503000000020004" pitchFamily="2" charset="0"/>
                <a:ea typeface="Inter Light" panose="02000503000000020004" pitchFamily="2" charset="0"/>
              </a:rPr>
              <a:t>Multithreaded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multiple concurrent threads of executions can run simultaneously</a:t>
            </a:r>
          </a:p>
          <a:p>
            <a:r>
              <a:rPr lang="en-US" sz="1600" b="1" dirty="0">
                <a:latin typeface="Inter Light" panose="02000503000000020004" pitchFamily="2" charset="0"/>
                <a:ea typeface="Inter Light" panose="02000503000000020004" pitchFamily="2" charset="0"/>
              </a:rPr>
              <a:t>Dynamic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java is designed to adapt to evolving environment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libraries can freely add new methods and instance variables without any effect on their clients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>
                <a:latin typeface="Inter Light" panose="02000503000000020004" pitchFamily="2" charset="0"/>
                <a:ea typeface="Inter Light" panose="02000503000000020004" pitchFamily="2" charset="0"/>
              </a:rPr>
              <a:t>interfaces promote flexibility and reusability in code by specifying a set of methods an object can perform, but leaves open how these methods should be implemented</a:t>
            </a:r>
          </a:p>
        </p:txBody>
      </p:sp>
    </p:spTree>
    <p:extLst>
      <p:ext uri="{BB962C8B-B14F-4D97-AF65-F5344CB8AC3E}">
        <p14:creationId xmlns:p14="http://schemas.microsoft.com/office/powerpoint/2010/main" val="2478681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1B86C-BB46-D1F4-CC82-838FDD73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7F6F73-B077-AF28-D7C2-5C922C7708F7}"/>
              </a:ext>
            </a:extLst>
          </p:cNvPr>
          <p:cNvSpPr/>
          <p:nvPr/>
        </p:nvSpPr>
        <p:spPr>
          <a:xfrm>
            <a:off x="0" y="2680138"/>
            <a:ext cx="12192000" cy="1497724"/>
          </a:xfrm>
          <a:prstGeom prst="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63533-0670-F83B-7FDA-55609ABA811D}"/>
              </a:ext>
            </a:extLst>
          </p:cNvPr>
          <p:cNvSpPr txBox="1"/>
          <p:nvPr/>
        </p:nvSpPr>
        <p:spPr>
          <a:xfrm>
            <a:off x="701566" y="3105834"/>
            <a:ext cx="1078886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HOW JAVA RUNS</a:t>
            </a:r>
            <a:endParaRPr lang="en-KZ" sz="3600" dirty="0">
              <a:gradFill flip="none" rotWithShape="1">
                <a:gsLst>
                  <a:gs pos="0">
                    <a:schemeClr val="bg1"/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724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E965-D98E-3508-1987-D3F9DABF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23B1-B0C5-DEA8-FA65-09016A669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JAVA EXECUTION MODEL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126FF2-7B62-9C70-3F37-EC77B3B5DDAD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639F6E-84A6-393A-FE16-52129B44FC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A68444-96B4-F770-C045-4F393B7E4055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C2F4A948-79CD-75EF-837B-FFE23F8B43AF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7BAA3-6BD0-D893-632A-90C6B023FEED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00C56346-7538-75BF-295B-17F78318D883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20EA2-6352-E439-3F38-D3C22D6046E9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BC08DBDA-0857-6AAB-AE3C-8339045B0610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07E5F2-0070-4816-A4AE-9AD8661BEA94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id="{1DE7D101-64A6-2F21-FB94-728BEA347FFA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5F4D42-D164-8DE5-166F-0F98F0A895BC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1332F92D-0295-08DE-06DE-5F638DF2BBF1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A0076A-5CDA-AEF3-7CB8-4227992759CC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D7FC8CEF-C2B3-78C6-0049-82D3D4563DC2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026DF4-A005-5924-D5C9-97EF6F127415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A2DC60-EA6B-89DC-3131-9A293FC73884}"/>
              </a:ext>
            </a:extLst>
          </p:cNvPr>
          <p:cNvSpPr txBox="1"/>
          <p:nvPr/>
        </p:nvSpPr>
        <p:spPr>
          <a:xfrm>
            <a:off x="3091463" y="1965010"/>
            <a:ext cx="7059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Z" dirty="0">
                <a:latin typeface="Inter Light" panose="02000503000000020004" pitchFamily="2" charset="0"/>
                <a:ea typeface="Inter Light" panose="02000503000000020004" pitchFamily="2" charset="0"/>
              </a:rPr>
              <a:t>.java → .class → JVM - Source code - Bytecode - Execution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BC9E1F-24AE-08D8-624C-7ADDD0B4C8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574"/>
          <a:stretch>
            <a:fillRect/>
          </a:stretch>
        </p:blipFill>
        <p:spPr>
          <a:xfrm>
            <a:off x="3091463" y="2762090"/>
            <a:ext cx="7772400" cy="22680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3910BB-00BB-D8D8-299A-916CAB4D3C00}"/>
              </a:ext>
            </a:extLst>
          </p:cNvPr>
          <p:cNvSpPr txBox="1"/>
          <p:nvPr/>
        </p:nvSpPr>
        <p:spPr>
          <a:xfrm>
            <a:off x="3074012" y="6025865"/>
            <a:ext cx="7886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1200" dirty="0">
                <a:latin typeface="Inter Light" panose="02000503000000020004" pitchFamily="2" charset="0"/>
                <a:ea typeface="Inter Light" panose="02000503000000020004" pitchFamily="2" charset="0"/>
              </a:rPr>
              <a:t>Referenced from: 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  <a:hlinkClick r:id="rId4"/>
              </a:rPr>
              <a:t>https://www.scaler.com/topics/cpp/procedural-programming/</a:t>
            </a:r>
            <a:r>
              <a:rPr lang="en-US" sz="1200" dirty="0">
                <a:latin typeface="Inter Light" panose="02000503000000020004" pitchFamily="2" charset="0"/>
                <a:ea typeface="Inter Light" panose="02000503000000020004" pitchFamily="2" charset="0"/>
              </a:rPr>
              <a:t> </a:t>
            </a:r>
            <a:endParaRPr lang="en-KZ" sz="120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455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44965-86FE-16AD-716B-1D745AECB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0D59-9F58-F021-0711-A24D3886F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BYTECODE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6FFAC-3604-0198-6AB1-B7865A1311AD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E1BC4F-265D-D9BB-D239-D2DAE94853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08C3A-61AB-E8B0-4BBF-1DE754CD132C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FE632BC8-F077-3162-026D-01A763619CC4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594756-FDF5-C7C2-56B1-A0A2EF9A6C3B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521B5514-64AC-FBB6-7E6F-3F8D87C8D696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EF06E4-AC1E-627A-D921-1B17CE51D01F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3AE19C23-C9FE-5CF8-31DD-753E8F79CCE0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9301EB-DBB7-65B7-39A5-723F7A1CE546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A88091B2-5797-853D-4C91-8E57B53A9518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CBE149-1F94-1810-F0F1-576828BCC3C3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621616F9-98E1-22B8-DFCE-33E700CE7D5E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BCA2B-E8BF-1894-FA91-C84FA3AE0F16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19094668-7FE3-F8B8-907C-B6B42F02D14D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3B27EA-ABB6-E9B2-B1C3-38516C6E6927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D1C219-2E7B-2381-42D0-B25DEC1AB508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Platform-independent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Not native machine code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Designed for JVM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65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DE6D-D0FE-CEF9-ECB6-F8D7E339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E08B-0189-D3AD-F6D3-3D6164916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JAVA VIRTUAL MACHINE (JVM)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768DF-9B63-5F36-D45A-A36C9A5FCFC2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D64037-47D8-69E7-B3BE-6503A4C45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3CCA87-5DC5-5751-D32B-391E16C849DC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4E0A8BCE-7784-8F4F-6936-B45E8E5CD026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7718B-439C-331B-36D4-A5B279E5B6EE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DF65546F-A8D9-DBD6-9EB2-80FC01127EC0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1146C-CD3A-CCE4-7BDB-F69A8FD02089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C561EB06-0FD4-0C19-9287-5D0C3189ED0B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114EF9-B068-2EFA-D7E1-1D45563C4061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8F2FADF0-0069-BEEE-8E6C-AD767E143C92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50C671-19E8-6817-B33F-C8DCFD49B7B8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EE94732A-853F-40AC-4A18-9C259E5A89BD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8F529B-D62B-0A97-674B-6082F4E15453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278AFC6B-CD78-F956-1E82-8AED2C2CEF2C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CF89E5-E2E9-E955-78A7-53240DA1201D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342B5D-AC14-471C-DBCF-CB1680C9C578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Software for a platform;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Interprets bytecode;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Enables portability.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20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842A-9097-B6C2-2E57-76807064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ECDC-5A0B-B927-B1D3-11BEF6721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JRE vs JVM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A54DF4-1E79-C1E3-1CC7-E85BBCBBE694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15B874-E35E-BB0A-4D44-D0C75F899A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5DADD0-3527-CAC3-3235-92FED6B8CDA0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A28E3EBD-FE42-C4F6-B2B1-75AC00909095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977C1E-5A0D-6E8A-1384-7A21419780E1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70397116-919B-863D-3D75-043644A5D99A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AE9D44-2757-19AA-2D4B-EE5B52911D31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98D81ADC-6950-DD6F-DDFB-B74A04F4CD2E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9435C-5C2D-CC43-0DB5-C7C258D1705A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E37EC8B1-8547-BF99-8857-B60A8A42F6F5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975509-EB4B-B172-8ED9-E3D50995D528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5F2C1A6F-464E-75FC-A58A-90935BE2B189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36D9F4-CD58-CD21-12FF-9E4D4465C6B7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464CAD55-F309-1776-4A43-4D48BC0EEA62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9C0220-9C23-7117-4AF8-E401575C1AAA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95D86C-87D7-5C1D-74CC-38E67E21465F}"/>
              </a:ext>
            </a:extLst>
          </p:cNvPr>
          <p:cNvSpPr txBox="1"/>
          <p:nvPr/>
        </p:nvSpPr>
        <p:spPr>
          <a:xfrm>
            <a:off x="3048000" y="3108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JVM = execution engine;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JRE = JVM + libraries.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081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F29C9-A8C3-E996-645F-879CE9B9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B153-554E-A4D2-FEC0-8BBF7EC52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PERFORMANCE NOTES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67487E-1F28-EABE-53C0-8076BD38A11B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107C5-A4BF-D889-B59E-BB1AC22F7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DF45B5-3DE1-5758-9606-4F30385FF7AE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EB09CA70-5C33-DF87-63FA-49DE95568CCE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3D47CA-3F74-91C4-8B08-50315C4DAF97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CFAB062A-E6CD-DE00-5275-D97D2F0A024A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59AF65-31F5-3D77-04DB-4D9E9300EEB3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703EA930-4F06-A3DD-0739-1B57DDEA7871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B8E20A-7C83-7FCA-C7B4-C535543855AB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9932CEC0-C091-5BC7-1243-B30EFF9EBC0E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B9D2F8-4FDC-DBEF-32F8-AF8198865EA2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CDB5FA55-045D-11D4-AFFA-F7BE94633CBF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B8A87B-44B8-5AB9-9A73-7A27C9D0F21C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E0BC8026-0FCD-7D37-C519-DBB7BF3E4C9A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9F00AF-144F-EBF0-2B77-F72A56E68CC4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65BD22-D91A-43FB-1CA4-58A391E014CD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Slower than native code;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JIT compilation;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Security checks.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765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BFBFE-09E7-1584-A253-F4F80FF2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BA2A54-C8F5-6BE9-0DE8-C08876614C26}"/>
              </a:ext>
            </a:extLst>
          </p:cNvPr>
          <p:cNvSpPr/>
          <p:nvPr/>
        </p:nvSpPr>
        <p:spPr>
          <a:xfrm>
            <a:off x="0" y="2680138"/>
            <a:ext cx="12192000" cy="1497724"/>
          </a:xfrm>
          <a:prstGeom prst="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DC517-4A81-9C1E-6AC0-9FB0326EAB2C}"/>
              </a:ext>
            </a:extLst>
          </p:cNvPr>
          <p:cNvSpPr txBox="1"/>
          <p:nvPr/>
        </p:nvSpPr>
        <p:spPr>
          <a:xfrm>
            <a:off x="701566" y="3105834"/>
            <a:ext cx="1078886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FIRST JAVA PROGRAM</a:t>
            </a:r>
            <a:endParaRPr lang="en-KZ" sz="3600" dirty="0">
              <a:gradFill flip="none" rotWithShape="1">
                <a:gsLst>
                  <a:gs pos="0">
                    <a:schemeClr val="bg1"/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625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1AB01-A9BC-3F87-7FFB-CDE2F7FA7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FC15-A682-65BD-7FC0-5FE927ED5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 OF A JAVA PROGRAM</a:t>
            </a:r>
            <a:endParaRPr lang="en-KZ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52EDCB-8DB7-868E-D9EC-0D885FACEE98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8FA2E3-5755-4601-D6D5-61123B05B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9DAE24-E2AA-716A-02D0-71223FDB0A33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E2B4862E-9A10-527D-3697-14EDAF326BF8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4A2C5-64FC-3169-5D9E-5DD05B11197F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56EE7E43-8424-A9B1-9384-9DC97AE6BAE7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4C0F6-A03A-4598-EB33-B23E9EBF427C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CD8B4D4C-63A6-9FA8-84FA-09706F4DE298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D5C489-7A96-2ED4-2B2D-C8476A4E17CA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id="{6333546E-DCF4-D488-9EFF-882D6A9621A4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09903D-B289-979C-B267-529293F5AC54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C4F61A79-C236-B3D2-FED5-09F4E04002B5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D1144F-B825-6BB6-B4B0-C20E4B100261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5CB2FD23-24CE-A09B-D920-B382DF1197BD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BD7A7C-D463-8833-5E6A-341C51DDF8BC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23E46-20A9-0B0A-E935-3CEBFC67345F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Class;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main method;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Statements.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550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F5CB-B7CC-96C0-0BAD-0C759C55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7DE4-947F-9303-968C-ECB8A3325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main METHOD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9D9704-7630-5186-C53B-0DFD1A59C5CD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72A89-EFD8-D44A-EF11-EEC6FC3B6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B8E4A3-AFB4-C7BB-BF83-026D9B2F7550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33FE0984-8C22-4202-610B-C5A5883C6340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0B0587-58FA-F423-20F1-E8C31FF699BF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AFEF6242-6519-1A06-346C-4871754A3168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BCE13F-1B4C-5981-B8BC-8DBF20E9CE1B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63AEF060-C501-A88D-0A17-D35FFE0BBB9E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23C0E1-F07F-06F6-5604-7CDCD65E2CAA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881BD96F-405D-7E0C-E96A-B7ECAA0FB7C0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38145F-0B2D-5432-2593-8D3B5F248C89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A6747A96-894F-8FD9-3780-DB9935FB7B3A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CA1F37-2B8E-DE66-6D14-05DD1BB995F0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64CDC9AA-487C-C20F-30A2-9C2FCECFE610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AA1895-F2EC-F462-94DF-1910A9573BAC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899A62-B787-FED1-FA61-6552FECD0EB0}"/>
              </a:ext>
            </a:extLst>
          </p:cNvPr>
          <p:cNvSpPr txBox="1"/>
          <p:nvPr/>
        </p:nvSpPr>
        <p:spPr>
          <a:xfrm>
            <a:off x="3048000" y="31088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Program entry point - JVM starts execution here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C90B1EC-C59A-CFFF-7810-414D62711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018" y="2110201"/>
            <a:ext cx="41783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04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09C2-717A-D728-878C-1988C0A8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1929-D58C-0DC0-6DD5-5BCD14AB4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COMPILATION &amp; EXECUTION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BB6EEB-C877-DC5E-A8E7-B4DCCF84F190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90EFF6-07D7-2DF1-A392-CDCC582169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DD922C-647D-0EF7-0816-2E8EA3312F54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08F04CCB-4888-3793-07CB-37DB2FF3B95F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B003E1-47ED-2F82-98A2-74C0AA31E7D1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CE5D5DA0-4018-8E7D-0B3D-0C0C0741C9FD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6C8AA-A888-22A1-F9C5-56C466E7816F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9A0CE5AB-37C8-A03A-2A63-7CAEEB2AA119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4CD37D-33EA-86BD-496A-DE3542FAFDDF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03651600-F15B-CF92-41AC-4A5A399795C5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005D1F-CA3F-81B5-D917-AC6299FA1667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276F52F0-6AF5-AA0C-B942-5DFC7CD3C449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C3733E-C6CB-3B85-7059-F29F6D371001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18652430-6030-2355-6845-94428EF3FA5A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198403-27F7-85DF-9C68-ACC2B1B93FA7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5E8FFA-EF11-C27A-0660-02942897EA93}"/>
              </a:ext>
            </a:extLst>
          </p:cNvPr>
          <p:cNvSpPr txBox="1"/>
          <p:nvPr/>
        </p:nvSpPr>
        <p:spPr>
          <a:xfrm>
            <a:off x="3048000" y="3108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err="1">
                <a:latin typeface="Inter Light" panose="02000503000000020004" pitchFamily="2" charset="0"/>
                <a:ea typeface="Inter Light" panose="02000503000000020004" pitchFamily="2" charset="0"/>
              </a:rPr>
              <a:t>javac</a:t>
            </a: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 → compiler;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java → interpreter.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754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01E74-9E36-8BEC-FB48-31D87CE0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8769-D24C-3A62-5ECB-21CAFD57D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CONSOLE OUTPUT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3FADF-6CC4-2B4E-9EAF-5A8E418DA1C0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1A9DAF-FCAD-DDCE-AD7D-2AB824875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5CD46D-7659-2625-51AC-F52ED4699430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75410ACC-1C36-E99B-73C4-61382338BE73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71CF85-DD92-2B2B-1700-C2BC07C6C766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2B8A6EBA-9F0C-5E8F-FDD9-A06804CDDD62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7ABF52-006F-89F4-4413-8CA4E530462B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0922968B-DF29-59CC-FCB7-1410E2A7E401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FBDF78-760D-0A3E-1957-77616AFC9378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4115713F-ABC2-E200-AB25-2C98FA83EB24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589369-A8AE-E863-2964-C403D6647D12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0080E4FC-659C-E5FA-A042-4544A319C4DF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85B897-0E72-C0AF-7403-0A28874C7A88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1DAEA852-63FD-F269-6129-3263CB5ED5AC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D70536-EE05-1D77-B0CA-B0A9121A3BFA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3B62D1-E82E-3756-1FD9-1A37D6B35AD6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err="1">
                <a:latin typeface="Inter Light" panose="02000503000000020004" pitchFamily="2" charset="0"/>
                <a:ea typeface="Inter Light" panose="02000503000000020004" pitchFamily="2" charset="0"/>
              </a:rPr>
              <a:t>System.out.print</a:t>
            </a: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();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err="1">
                <a:latin typeface="Inter Light" panose="02000503000000020004" pitchFamily="2" charset="0"/>
                <a:ea typeface="Inter Light" panose="02000503000000020004" pitchFamily="2" charset="0"/>
              </a:rPr>
              <a:t>System.out.println</a:t>
            </a: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();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\n new line.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167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0DC88-AEC6-36F7-0B42-E581B03A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CA70-58AC-4E54-DCDD-659F57BFE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COMMENTS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41A9F9-EEB3-F676-40C7-97786EED3CCF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69FF2-2F22-B337-000A-2088DF121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930C84-9C26-E041-1726-AA9C73306727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D420BAEA-3C30-DBE0-EB4F-BBA603876F0A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B4ADFE-C808-B56C-DA2A-C0179D125EB9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3D036BAF-E524-91F0-5815-9EC8275654AD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1CF08D-DF2E-93C5-FD85-25AEB3C84458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FDD6DE8D-3F31-2636-301F-8617226BE558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42DD2-F54C-9281-326A-A06AF41E213F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C2ED71EA-8DB6-6AB8-0D23-B49341364B8A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3C6C99-48FB-B207-2F2B-550BF1B6C3E1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A9649B75-4DF9-FBE1-52C2-8B20BDF7D1DD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8DF856-3E41-1736-CCEE-A9F06F6B3139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AB62F32F-D33A-49A3-D188-BDBF71EFBEA1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4864B0-8151-2E1E-8E10-D3BFF882B545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813CB9-B53C-11EA-B0C3-FB8507637D16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// single-line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/ multi-line /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/* documentation /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843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5BC0-B1E0-B04B-FCF4-B666E240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D55B5E-A762-FEC2-7F4F-AEA209ADE03E}"/>
              </a:ext>
            </a:extLst>
          </p:cNvPr>
          <p:cNvSpPr/>
          <p:nvPr/>
        </p:nvSpPr>
        <p:spPr>
          <a:xfrm>
            <a:off x="0" y="2680138"/>
            <a:ext cx="12192000" cy="1497724"/>
          </a:xfrm>
          <a:prstGeom prst="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AADD0-E04F-A5AC-85BA-DA916F6701AA}"/>
              </a:ext>
            </a:extLst>
          </p:cNvPr>
          <p:cNvSpPr txBox="1"/>
          <p:nvPr/>
        </p:nvSpPr>
        <p:spPr>
          <a:xfrm>
            <a:off x="701566" y="3105834"/>
            <a:ext cx="1078886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JAVA BASICS</a:t>
            </a:r>
            <a:endParaRPr lang="en-KZ" sz="3600" dirty="0">
              <a:gradFill flip="none" rotWithShape="1">
                <a:gsLst>
                  <a:gs pos="0">
                    <a:schemeClr val="bg1"/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740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39DDD-79A7-0DA0-8EEF-A71A63594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5ED8-EF73-64E1-C92C-03CE1A168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VARIABLES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9A534-FC98-8507-9249-D8A5E3B8355F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ECD90F-863E-FC5F-7AE9-B1EF6ED71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3EEC96-4E7B-1386-650C-EC2B6A699976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4A0AC75E-69F5-C817-4DBC-9D3B900274CE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A9337-784C-B91E-74D5-87EF980EFC5C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B0CBCC74-23A8-29E3-08DF-F872B8D0E3F6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C0BF3-6DEB-B3B2-8964-618985B06B87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BC8021E4-C2C9-ABC9-75A7-6A1AD34AD207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0BB3C5-7BB5-74D9-13A8-9C9095AC62B9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id="{2D2A83A8-1615-94A6-89F5-8FABEFA0C9A3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68A530-F96B-6ECA-0CD6-DC4AF070F982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657DE30C-6AA4-F3A4-C618-395E5246747B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CF0FEA-4F54-EC7A-3460-2DB1ED432CE8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08CA2EA1-A5FA-833C-DD0F-CBB4FB77E1C3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94A43B-89A2-F124-641D-A6E910BC0AC4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4B0E4-C353-70AB-F9C9-1D6BBFF62F40}"/>
              </a:ext>
            </a:extLst>
          </p:cNvPr>
          <p:cNvSpPr txBox="1"/>
          <p:nvPr/>
        </p:nvSpPr>
        <p:spPr>
          <a:xfrm>
            <a:off x="3048000" y="3108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Store values;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Must be declared.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DAC6B2-B9C6-C301-940D-80AF6DDFD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744" y="4151661"/>
            <a:ext cx="4927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58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4A2B0-8710-6971-3937-5C730637C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6AD6-CCF0-5399-D595-0C5A6873F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DATA TYPES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296B19-F451-FBA4-37F5-0D69C0D3FF88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768891-BCF4-85CD-52DA-CC4AEE1DB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950E19-4D1F-1014-78AF-087FD68D6A28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C7FD788B-1B01-FCF5-94D0-D4B8D5E25D90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10BAC-AE00-491D-C83E-AB67117E7618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9545587F-1BB7-3E6B-3113-3D92ECA172EE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3AF45-621C-5A00-1DE2-E12389B14E18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CD3B5487-3CB3-8E4C-42D3-76643B01A856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315656-2859-C93F-AF7B-BA438B424783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9557A0B0-CA30-6436-23B8-ACAF98AE28F6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979F28-F215-D4AB-1B20-279F161D30A1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0C167103-5200-2CFE-D991-C695B4F07BE6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376CEC-0E73-EF48-1FD4-8E8052017AC4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96B57119-B02E-6951-400F-7B4126069143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95EC75-CC56-B00A-C4BF-CDAD2C9DDAD2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83C5BA-4535-6D72-E1BE-EBD2662927C1}"/>
              </a:ext>
            </a:extLst>
          </p:cNvPr>
          <p:cNvSpPr txBox="1"/>
          <p:nvPr/>
        </p:nvSpPr>
        <p:spPr>
          <a:xfrm>
            <a:off x="3048000" y="3108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Primitive types;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Reference types.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688952-D5A2-21E9-649A-4E63577981C2}"/>
              </a:ext>
            </a:extLst>
          </p:cNvPr>
          <p:cNvSpPr txBox="1"/>
          <p:nvPr/>
        </p:nvSpPr>
        <p:spPr>
          <a:xfrm>
            <a:off x="3091463" y="415989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nter Light Italic" panose="02000503000000020004" pitchFamily="2" charset="0"/>
                <a:ea typeface="Inter Light Italic" panose="02000503000000020004" pitchFamily="2" charset="0"/>
              </a:rPr>
              <a:t>(Objects vs values)</a:t>
            </a:r>
            <a:endParaRPr lang="en-KZ" sz="1400" dirty="0">
              <a:latin typeface="Inter Light Italic" panose="02000503000000020004" pitchFamily="2" charset="0"/>
              <a:ea typeface="Inter Light Italic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488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01807-1A52-8B7C-CE59-38008BCD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BF53-1631-8D59-FCC4-2DBDF4DA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OPERATORS &amp; CONSTANTS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3336FA-FB95-7B4A-5375-FC8453E924A6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0F5697-A8C1-7F4E-5AED-6A9EDEBB02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9B433F-DCA9-4348-CFC3-FCF017FB3141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41135459-44D7-69AB-363C-DE2FA4B96317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88AF4-EC85-726F-17C7-C88B27816F5D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CD1483E4-6CE4-5926-82D9-999D2B651FA5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38E83-A148-25E2-4647-7EBF34ECC650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D4D48ABD-A870-3203-8B42-07C8D8E7CDF8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33120F-919F-1063-E6A6-088E51D4029C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1DD3F4EF-E7D9-407B-0926-788935931636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1F8131-7B53-A8F9-049B-37B7BF19B104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FD87D9A2-5E9B-3F67-6695-0A871FA4CD0A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A8C09B-A5D3-CD13-6C07-3146E01177B0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4EBDE4EF-5801-C361-897F-EC1C21AAB42F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17A3C9-F23B-A0E6-1D52-BAA540E5E4A4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A57827-2BE7-9B7A-F662-E684F28D3083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Arithmetic operators;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Shortcut operators;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Constants: final.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057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5C058-42FF-BC3A-F568-CD69DC06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14B043-726A-0BE8-4519-7C9F7FC767DB}"/>
              </a:ext>
            </a:extLst>
          </p:cNvPr>
          <p:cNvSpPr/>
          <p:nvPr/>
        </p:nvSpPr>
        <p:spPr>
          <a:xfrm>
            <a:off x="0" y="2680138"/>
            <a:ext cx="12192000" cy="1497724"/>
          </a:xfrm>
          <a:prstGeom prst="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9655D-81B7-27AA-3146-FBB8EA8AB652}"/>
              </a:ext>
            </a:extLst>
          </p:cNvPr>
          <p:cNvSpPr txBox="1"/>
          <p:nvPr/>
        </p:nvSpPr>
        <p:spPr>
          <a:xfrm>
            <a:off x="701566" y="3105834"/>
            <a:ext cx="1078886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STRUCTURE &amp; CONTROL</a:t>
            </a:r>
            <a:endParaRPr lang="en-KZ" sz="3600" dirty="0">
              <a:gradFill flip="none" rotWithShape="1">
                <a:gsLst>
                  <a:gs pos="0">
                    <a:schemeClr val="bg1"/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757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466FA-0009-7EB4-9E55-9C8CA38F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DB0C-A50D-9163-827A-D7C56D2AC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CONTROL FLOW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7FDF61-5CDF-34E2-3D3B-BE8B876DFCA4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1D6455-8642-621C-5651-6D96424576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01FE5F-5192-626F-64E8-F45B2DD28067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3F9422F2-CED9-0359-F94C-DE4D213DC812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E4BF55-6D00-6B44-95B8-62902096B3B1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3CB7F0FE-EECF-DDC8-D7EB-D96C5DDEC621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F76467-C4D3-3B0A-37C9-78BCE11F7268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892F7183-C1B8-87E0-7B56-C433AA92E311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6553EB-63E4-292E-CC62-D96CB4B67288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15479392-1D93-D10F-31C5-1A54BE9F70A4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35BA23-59DC-08D1-2D58-7E5B9B8EDB96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40CFC7C0-F6A3-2492-5A4E-1EE697AB6577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806774-7BC5-35BD-C1C4-AEF35FA7D0F1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1BD1C6FF-A690-BC64-60AF-9C6002548069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D8ECEF-7F4D-6DA7-D413-97A8AAA6E1E0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67C35B-5A02-38C8-FAAD-AF2CA3ED1CDC}"/>
              </a:ext>
            </a:extLst>
          </p:cNvPr>
          <p:cNvSpPr txBox="1"/>
          <p:nvPr/>
        </p:nvSpPr>
        <p:spPr>
          <a:xfrm>
            <a:off x="3048000" y="3108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Selection (if, switch);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Loops (for, while).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067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5843B-F779-683B-003B-DEB003E8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0B71-2A4C-E89E-47FB-FF057FE07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837A4-8171-5DD4-15B1-9DAFB5790F2E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BE65AA-C253-7E4C-64F8-EFF3F115D3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92D9AC-88CC-2B3B-902E-0F07EF31CDF2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4E9F267F-11CA-AC4C-117D-997063267DFE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6503BD-2FA9-70AA-A43B-25FD7B9057B7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C9F74EAB-CDF7-BA5E-E853-CE35BE45B3FF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9DCCD1-933D-BA2B-B543-504DCA008887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65348663-B17D-42AC-8983-BEA506D23AC5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0B863A-A1B2-EC71-4DF3-48ECFDB7F21B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3C78DB82-5FBC-F939-1696-57066904A7EF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2E3AD3-EC2C-5AA6-2668-F07E95D87A89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2DE7CAE7-9A4D-E60F-6716-9E6D323368D4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7866E6-398A-87C1-1097-1C6E2DDD12D6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B083CFD1-8283-5BC4-3469-DA0AC37D8080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8EC022-5A18-583E-E5A8-E35F566EB489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D29FF8-6C87-71C0-1B12-B05C80E32EF3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Group logic;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Reuse code;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Abstraction (black box).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229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3D074-79A2-B8FA-39E2-301670A64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7738-0E9A-44B3-42C2-F42670389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PROGRAMMING ERRORS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0AD1ED-545C-978E-F001-FD349D303263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E85B59-8F5E-D6E7-600F-BECECCC5ED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FEEAD0-CF70-7A5F-3C5F-860D5A8FF967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E9523D73-A11B-09A2-3C7B-417081A711F5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15EFF-D321-BD3A-1903-DF63CDC02CF7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FE8C6F4D-03BE-6F10-A545-41E66F336EAC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3AE0FB-B3EE-7A65-1808-5D370164C562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861076CC-ABAF-B41B-192B-8AC3AD58F25C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A907D4-9607-FD0F-952C-4B622193B763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FA910C1E-0FB7-1B56-D883-E365DD2350AE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3E7226-6B6B-B5DC-A10D-CD486E22C30E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A147CD2C-0268-570E-534B-A70A1346CE8B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C65A3E-7925-3083-FF96-4E000FD0A7FA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6FBDE32A-2A9D-6FAB-2F14-DD1280ED88BF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95D314-7BC4-56E2-ADF4-7970951AEE49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F61FBE-5543-2074-270B-90DF75A410B6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Syntax errors;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Runtime errors;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Logic errors.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445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164A4-7F86-051F-4635-AD064B8E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FD4E-9D8F-7018-D734-1A05EBCFD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PROGRAMMING STYLE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AD9597-4704-8E83-D7C0-A8FA8C9F4B31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081ACE-DFDA-A7B5-6E0C-7FBB104353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DA1BBE-A95C-C424-6133-F445C63FCA82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A7B34258-E27B-5ACD-B192-463E429F9985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8086D7-346A-28F4-06AB-A2FE0A90C2E1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FBDBCF9F-CBDC-8A5D-EDA2-88545A1CF280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06357E-91F9-5251-85CE-0DAF465F583A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420C3C95-1132-593F-D889-103EFE23CF45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36ADA-423C-9899-F96A-6F4E16285685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5EA6379C-D41F-F0FA-3C5D-9B9A252BB744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1C7FEC-AB07-4FF0-730D-7B5890F0F0A7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BABA3622-8035-6D2B-19E4-1A8EAC402D07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92AF7E-C4D7-D9C9-0AA5-46097F5EDEAE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245E9443-CCA8-DA1E-6245-15B124F76263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69DB64-ACBD-9485-1A5D-3AAFF810AFAD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6AB1AF-D97D-6ED8-CE4A-EEF81932DE59}"/>
              </a:ext>
            </a:extLst>
          </p:cNvPr>
          <p:cNvSpPr txBox="1"/>
          <p:nvPr/>
        </p:nvSpPr>
        <p:spPr>
          <a:xfrm>
            <a:off x="3048000" y="31088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Meaningful names;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Proper indentation;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Comments.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233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07B7A-2F92-AB62-11C6-FE6A03E64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F840-102A-874C-CEAE-0A962BF8F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960"/>
            <a:ext cx="9144000" cy="9531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SUMMARY &amp; NEXT STEPS</a:t>
            </a:r>
            <a:endParaRPr lang="en-KZ" sz="3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09F352-41DC-76BF-3F6F-7AB10F8B2032}"/>
              </a:ext>
            </a:extLst>
          </p:cNvPr>
          <p:cNvSpPr/>
          <p:nvPr/>
        </p:nvSpPr>
        <p:spPr>
          <a:xfrm>
            <a:off x="609600" y="1220179"/>
            <a:ext cx="109728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000000"/>
              </a:gs>
              <a:gs pos="81000">
                <a:srgbClr val="0000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E3436F-139F-A989-CCEB-4B2862A169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t="32501" r="17060" b="31197"/>
          <a:stretch>
            <a:fillRect/>
          </a:stretch>
        </p:blipFill>
        <p:spPr>
          <a:xfrm>
            <a:off x="882869" y="921370"/>
            <a:ext cx="1545021" cy="59761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CB416D-CE39-463F-A755-FB49DC9C5D72}"/>
              </a:ext>
            </a:extLst>
          </p:cNvPr>
          <p:cNvCxnSpPr>
            <a:cxnSpLocks/>
          </p:cNvCxnSpPr>
          <p:nvPr/>
        </p:nvCxnSpPr>
        <p:spPr>
          <a:xfrm>
            <a:off x="2814447" y="2279084"/>
            <a:ext cx="0" cy="3417506"/>
          </a:xfrm>
          <a:prstGeom prst="line">
            <a:avLst/>
          </a:prstGeom>
          <a:ln w="38100">
            <a:solidFill>
              <a:srgbClr val="929292">
                <a:alpha val="50000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D91FF655-5F40-3AA9-9413-AAA09298D348}"/>
              </a:ext>
            </a:extLst>
          </p:cNvPr>
          <p:cNvSpPr/>
          <p:nvPr/>
        </p:nvSpPr>
        <p:spPr>
          <a:xfrm>
            <a:off x="622126" y="1817797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0A990-F639-8E7D-1406-07CD1AFCF48F}"/>
              </a:ext>
            </a:extLst>
          </p:cNvPr>
          <p:cNvSpPr txBox="1"/>
          <p:nvPr/>
        </p:nvSpPr>
        <p:spPr>
          <a:xfrm>
            <a:off x="676896" y="1965010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Why OOP?</a:t>
            </a: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346DC401-6AE2-6F9A-22C5-9AFF91DEC7C5}"/>
              </a:ext>
            </a:extLst>
          </p:cNvPr>
          <p:cNvSpPr/>
          <p:nvPr/>
        </p:nvSpPr>
        <p:spPr>
          <a:xfrm>
            <a:off x="622126" y="2599675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CE15F-35E5-1F52-DD82-29055BD8C5D9}"/>
              </a:ext>
            </a:extLst>
          </p:cNvPr>
          <p:cNvSpPr txBox="1"/>
          <p:nvPr/>
        </p:nvSpPr>
        <p:spPr>
          <a:xfrm>
            <a:off x="676896" y="2750026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rgbClr val="FFFFFF">
                        <a:alpha val="75000"/>
                      </a:srgb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rgbClr val="B5D2EC">
                        <a:alpha val="75000"/>
                      </a:srgbClr>
                    </a:gs>
                    <a:gs pos="100000">
                      <a:srgbClr val="8FAADC">
                        <a:alpha val="75000"/>
                      </a:srgb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Core OOP ideas</a:t>
            </a:r>
            <a:endParaRPr lang="en-KZ" sz="1400" dirty="0">
              <a:gradFill flip="none" rotWithShape="1">
                <a:gsLst>
                  <a:gs pos="0">
                    <a:srgbClr val="FFFFFF">
                      <a:alpha val="75000"/>
                    </a:srgbClr>
                  </a:gs>
                  <a:gs pos="74000">
                    <a:schemeClr val="accent5">
                      <a:lumMod val="45000"/>
                      <a:lumOff val="55000"/>
                      <a:alpha val="50000"/>
                    </a:schemeClr>
                  </a:gs>
                  <a:gs pos="83000">
                    <a:srgbClr val="B5D2EC">
                      <a:alpha val="50196"/>
                    </a:srgbClr>
                  </a:gs>
                  <a:gs pos="100000">
                    <a:srgbClr val="8FAADC">
                      <a:alpha val="0"/>
                    </a:srgbClr>
                  </a:gs>
                </a:gsLst>
                <a:lin ang="10800000" scaled="1"/>
                <a:tileRect/>
              </a:gra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5D7CE6DC-47D2-A381-E7B5-843922CB80DC}"/>
              </a:ext>
            </a:extLst>
          </p:cNvPr>
          <p:cNvSpPr/>
          <p:nvPr/>
        </p:nvSpPr>
        <p:spPr>
          <a:xfrm>
            <a:off x="622126" y="3381554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58DEF5-D003-E79E-C5F0-3FDD011C1B30}"/>
              </a:ext>
            </a:extLst>
          </p:cNvPr>
          <p:cNvSpPr txBox="1"/>
          <p:nvPr/>
        </p:nvSpPr>
        <p:spPr>
          <a:xfrm>
            <a:off x="676896" y="3509048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What is Java?</a:t>
            </a:r>
          </a:p>
        </p:txBody>
      </p: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id="{8C3ED067-41C3-E0B0-46CF-78219BE2061D}"/>
              </a:ext>
            </a:extLst>
          </p:cNvPr>
          <p:cNvSpPr/>
          <p:nvPr/>
        </p:nvSpPr>
        <p:spPr>
          <a:xfrm>
            <a:off x="622126" y="41634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19E54A-EEEA-AF18-434A-09032051F8F1}"/>
              </a:ext>
            </a:extLst>
          </p:cNvPr>
          <p:cNvSpPr txBox="1"/>
          <p:nvPr/>
        </p:nvSpPr>
        <p:spPr>
          <a:xfrm>
            <a:off x="676896" y="43137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How Java runs?</a:t>
            </a:r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2318460A-D722-A2D1-3931-3A0E714467A5}"/>
              </a:ext>
            </a:extLst>
          </p:cNvPr>
          <p:cNvSpPr/>
          <p:nvPr/>
        </p:nvSpPr>
        <p:spPr>
          <a:xfrm>
            <a:off x="609600" y="4940046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39A6B3-0AFC-A173-1717-E7CFBB40B1AA}"/>
              </a:ext>
            </a:extLst>
          </p:cNvPr>
          <p:cNvSpPr txBox="1"/>
          <p:nvPr/>
        </p:nvSpPr>
        <p:spPr>
          <a:xfrm>
            <a:off x="664370" y="5090397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First Java Program</a:t>
            </a: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BD456A06-452C-ABB9-7B8F-C4477AF40993}"/>
              </a:ext>
            </a:extLst>
          </p:cNvPr>
          <p:cNvSpPr/>
          <p:nvPr/>
        </p:nvSpPr>
        <p:spPr>
          <a:xfrm>
            <a:off x="609600" y="5704133"/>
            <a:ext cx="1927832" cy="608480"/>
          </a:xfrm>
          <a:prstGeom prst="round2DiagRect">
            <a:avLst/>
          </a:prstGeom>
          <a:solidFill>
            <a:srgbClr val="050D25">
              <a:alpha val="75000"/>
            </a:srgbClr>
          </a:solidFill>
          <a:ln>
            <a:solidFill>
              <a:srgbClr val="050D25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6EAC4F-B74A-7CDD-1BF2-F3364C421DBD}"/>
              </a:ext>
            </a:extLst>
          </p:cNvPr>
          <p:cNvSpPr txBox="1"/>
          <p:nvPr/>
        </p:nvSpPr>
        <p:spPr>
          <a:xfrm>
            <a:off x="664370" y="5854484"/>
            <a:ext cx="18182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1400" dirty="0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  <a:alpha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75000"/>
                      </a:schemeClr>
                    </a:gs>
                  </a:gsLst>
                  <a:lin ang="10800000" scaled="1"/>
                  <a:tileRect/>
                </a:gradFill>
                <a:latin typeface="Inter Medium" panose="02000503000000020004" pitchFamily="2" charset="0"/>
                <a:ea typeface="Inter Medium" panose="02000503000000020004" pitchFamily="2" charset="0"/>
              </a:rPr>
              <a:t>Java Basics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2BD7B1-7953-3655-222F-0E747CAF2F94}"/>
              </a:ext>
            </a:extLst>
          </p:cNvPr>
          <p:cNvSpPr txBox="1"/>
          <p:nvPr/>
        </p:nvSpPr>
        <p:spPr>
          <a:xfrm>
            <a:off x="3048000" y="310888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OOP mindset;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Java platform;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Basic syntax;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Inter Light" panose="02000503000000020004" pitchFamily="2" charset="0"/>
                <a:ea typeface="Inter Light" panose="02000503000000020004" pitchFamily="2" charset="0"/>
              </a:rPr>
              <a:t>Next lecture: deeper OOP &amp; classes.</a:t>
            </a:r>
            <a:endParaRPr lang="en-KZ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160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28077-1152-A62C-3F68-310A4DC12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02C75C-56FE-83D4-9C07-0F814CE25F5A}"/>
              </a:ext>
            </a:extLst>
          </p:cNvPr>
          <p:cNvSpPr/>
          <p:nvPr/>
        </p:nvSpPr>
        <p:spPr>
          <a:xfrm>
            <a:off x="0" y="2680138"/>
            <a:ext cx="12192000" cy="1497724"/>
          </a:xfrm>
          <a:prstGeom prst="rect">
            <a:avLst/>
          </a:prstGeom>
          <a:solidFill>
            <a:srgbClr val="050D25"/>
          </a:solidFill>
          <a:ln>
            <a:solidFill>
              <a:srgbClr val="050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992F9-204F-2C7C-74DA-8A363FD3F824}"/>
              </a:ext>
            </a:extLst>
          </p:cNvPr>
          <p:cNvSpPr txBox="1"/>
          <p:nvPr/>
        </p:nvSpPr>
        <p:spPr>
          <a:xfrm>
            <a:off x="701566" y="2890391"/>
            <a:ext cx="10788868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Z" sz="6400" dirty="0">
                <a:gradFill flip="none" rotWithShape="1">
                  <a:gsLst>
                    <a:gs pos="0">
                      <a:schemeClr val="bg1"/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5373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B9A05275F2B046BB08F2A54558E64C" ma:contentTypeVersion="0" ma:contentTypeDescription="Create a new document." ma:contentTypeScope="" ma:versionID="b5c390f76a87200ae7da1ea3ae4bc9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984EF5-9603-48E3-831D-25D2590AFB13}"/>
</file>

<file path=customXml/itemProps2.xml><?xml version="1.0" encoding="utf-8"?>
<ds:datastoreItem xmlns:ds="http://schemas.openxmlformats.org/officeDocument/2006/customXml" ds:itemID="{C0715386-DF2C-4A67-8DB4-8A0DA7313902}"/>
</file>

<file path=customXml/itemProps3.xml><?xml version="1.0" encoding="utf-8"?>
<ds:datastoreItem xmlns:ds="http://schemas.openxmlformats.org/officeDocument/2006/customXml" ds:itemID="{E7D18F21-C137-4D66-B4C4-A109FCF7A362}"/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1586</Words>
  <Application>Microsoft Macintosh PowerPoint</Application>
  <PresentationFormat>Widescreen</PresentationFormat>
  <Paragraphs>339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Calibri</vt:lpstr>
      <vt:lpstr>Calibri Light</vt:lpstr>
      <vt:lpstr>Helvetica Neue</vt:lpstr>
      <vt:lpstr>HELVETICA NEUE MEDIUM</vt:lpstr>
      <vt:lpstr>HELVETICA NEUE MEDIUM</vt:lpstr>
      <vt:lpstr>Inter Light</vt:lpstr>
      <vt:lpstr>Inter Light Italic</vt:lpstr>
      <vt:lpstr>Inter Medium</vt:lpstr>
      <vt:lpstr>Wingdings</vt:lpstr>
      <vt:lpstr>Office Theme</vt:lpstr>
      <vt:lpstr>PowerPoint Presentation</vt:lpstr>
      <vt:lpstr>LECTURE 1</vt:lpstr>
      <vt:lpstr>PROGRAMMING PARADIGMS</vt:lpstr>
      <vt:lpstr>PROCEDURAL PROGRAMMING</vt:lpstr>
      <vt:lpstr>PROBLEMS OF PROCEDURAL CODE</vt:lpstr>
      <vt:lpstr>OBJECT-ORIENTED PROGRAMMING IDEA</vt:lpstr>
      <vt:lpstr>PowerPoint Presentation</vt:lpstr>
      <vt:lpstr>WHAT IS AN OBJECT?</vt:lpstr>
      <vt:lpstr>OBJECTS INTERACTION</vt:lpstr>
      <vt:lpstr>OOP PRINCIPLES (OVERVIEW)</vt:lpstr>
      <vt:lpstr>PowerPoint Presentation</vt:lpstr>
      <vt:lpstr>WHAT IS JAVA?</vt:lpstr>
      <vt:lpstr>WHY JAVA?</vt:lpstr>
      <vt:lpstr>JAVA KEY FEATURES</vt:lpstr>
      <vt:lpstr>PowerPoint Presentation</vt:lpstr>
      <vt:lpstr>JAVA EXECUTION MODEL</vt:lpstr>
      <vt:lpstr>BYTECODE</vt:lpstr>
      <vt:lpstr>JAVA VIRTUAL MACHINE (JVM)</vt:lpstr>
      <vt:lpstr>JRE vs JVM</vt:lpstr>
      <vt:lpstr>PERFORMANCE NOTES</vt:lpstr>
      <vt:lpstr>PowerPoint Presentation</vt:lpstr>
      <vt:lpstr>STRUCTURE OF A JAVA PROGRAM</vt:lpstr>
      <vt:lpstr>main METHOD</vt:lpstr>
      <vt:lpstr>COMPILATION &amp; EXECUTION</vt:lpstr>
      <vt:lpstr>CONSOLE OUTPUT</vt:lpstr>
      <vt:lpstr>COMMENTS</vt:lpstr>
      <vt:lpstr>PowerPoint Presentation</vt:lpstr>
      <vt:lpstr>VARIABLES</vt:lpstr>
      <vt:lpstr>DATA TYPES</vt:lpstr>
      <vt:lpstr>OPERATORS &amp; CONSTANTS</vt:lpstr>
      <vt:lpstr>PowerPoint Presentation</vt:lpstr>
      <vt:lpstr>CONTROL FLOW</vt:lpstr>
      <vt:lpstr>METHODS</vt:lpstr>
      <vt:lpstr>PROGRAMMING ERRORS</vt:lpstr>
      <vt:lpstr>PROGRAMMING STYLE</vt:lpstr>
      <vt:lpstr>SUMMARY &amp;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Asylzhan A. Izbasar</dc:creator>
  <cp:lastModifiedBy>Asylzhan A. Izbasar</cp:lastModifiedBy>
  <cp:revision>22</cp:revision>
  <dcterms:created xsi:type="dcterms:W3CDTF">2025-09-07T18:42:41Z</dcterms:created>
  <dcterms:modified xsi:type="dcterms:W3CDTF">2026-01-19T07:20:11Z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0x01010007B9A05275F2B046BB08F2A54558E64C</vt:lpwstr>
  </property>
</Properties>
</file>